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fntdata" ContentType="application/x-fontdata"/>
  <Default Extension="png" ContentType="image/png"/>
  <Default Extension="gif" ContentType="image/gif"/>
  <Default Extension="m4v" ContentType="video/mp4"/>
  <Default Extension="mp4" ContentType="video/mp4"/>
  <Default Extension="svg" ContentType="image/svg+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embeddedFontLst>
    <p:embeddedFont>
      <p:font typeface="Montserrat"/>
      <p:boldItalic r:id="rId15"/>
      <p:regular r:id="rId16"/>
      <p:italic r:id="rId17"/>
      <p:bold r:id="rId18"/>
    </p:embeddedFont>
    <p:embeddedFont>
      <p:font typeface="Fira Sans"/>
      <p:boldItalic r:id="rId19"/>
      <p:regular r:id="rId20"/>
      <p:italic r:id="rId21"/>
      <p:bold r:id="rId22"/>
    </p:embeddedFont>
    <p:embeddedFont>
      <p:font typeface="Carlito"/>
      <p:boldItalic r:id="rId23"/>
      <p:regular r:id="rId24"/>
      <p:italic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Montserrat-boldItalic.fntdata"/><Relationship Id="rId16" Type="http://schemas.openxmlformats.org/officeDocument/2006/relationships/font" Target="fonts/Montserrat-regular.fntdata"/><Relationship Id="rId17" Type="http://schemas.openxmlformats.org/officeDocument/2006/relationships/font" Target="fonts/Montserrat-italic.fntdata"/><Relationship Id="rId18" Type="http://schemas.openxmlformats.org/officeDocument/2006/relationships/font" Target="fonts/Montserrat-bold.fntdata"/><Relationship Id="rId19" Type="http://schemas.openxmlformats.org/officeDocument/2006/relationships/font" Target="fonts/FiraSans-boldItalic.fntdata"/><Relationship Id="rId20" Type="http://schemas.openxmlformats.org/officeDocument/2006/relationships/font" Target="fonts/FiraSans-regular.fntdata"/><Relationship Id="rId21" Type="http://schemas.openxmlformats.org/officeDocument/2006/relationships/font" Target="fonts/FiraSans-italic.fntdata"/><Relationship Id="rId22" Type="http://schemas.openxmlformats.org/officeDocument/2006/relationships/font" Target="fonts/FiraSans-bold.fntdata"/><Relationship Id="rId23" Type="http://schemas.openxmlformats.org/officeDocument/2006/relationships/font" Target="fonts/Carlito-boldItalic.fntdata"/><Relationship Id="rId24" Type="http://schemas.openxmlformats.org/officeDocument/2006/relationships/font" Target="fonts/Carlito-regular.fntdata"/><Relationship Id="rId25" Type="http://schemas.openxmlformats.org/officeDocument/2006/relationships/font" Target="fonts/Carlito-italic.fntdata"/><Relationship Id="rId26" Type="http://schemas.openxmlformats.org/officeDocument/2006/relationships/font" Target="fonts/Carlito-bold.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0FE"/>
        </a:solidFill>
      </p:bgPr>
    </p:bg>
    <p:spTree>
      <p:nvGrpSpPr>
        <p:cNvPr id="1" name=""/>
        <p:cNvGrpSpPr/>
        <p:nvPr/>
      </p:nvGrpSpPr>
      <p:grpSpPr>
        <a:xfrm>
          <a:off x="0" y="0"/>
          <a:ext cx="0" cy="0"/>
          <a:chOff x="0" y="0"/>
          <a:chExt cx="0" cy="0"/>
        </a:xfrm>
      </p:grpSpPr>
      <p:sp>
        <p:nvSpPr>
          <p:cNvPr id="3" name="Text 0"/>
          <p:cNvSpPr/>
          <p:nvPr/>
        </p:nvSpPr>
        <p:spPr>
          <a:xfrm>
            <a:off x="467141" y="568774"/>
            <a:ext cx="8519592" cy="1428750"/>
          </a:xfrm>
          <a:prstGeom prst="rect">
            <a:avLst/>
          </a:prstGeom>
          <a:noFill/>
          <a:ln/>
        </p:spPr>
        <p:txBody>
          <a:bodyPr wrap="square" lIns="0" tIns="0" rIns="0" bIns="0" rtlCol="0" anchor="t"/>
          <a:lstStyle/>
          <a:p>
            <a:pPr algn="ctr">
              <a:lnSpc>
                <a:spcPts val="11250"/>
              </a:lnSpc>
            </a:pPr>
            <a:r>
              <a:rPr lang="en-US" sz="11300" b="1" dirty="0">
                <a:solidFill>
                  <a:srgbClr val="0E1745"/>
                </a:solidFill>
                <a:latin typeface="Glitz" pitchFamily="34" charset="0"/>
                <a:ea typeface="Glitz" pitchFamily="34" charset="-122"/>
                <a:cs typeface="Glitz" pitchFamily="34" charset="-120"/>
              </a:rPr>
              <a:t>IMPARABLES</a:t>
            </a:r>
            <a:endParaRPr lang="en-US" sz="11250" dirty="0"/>
          </a:p>
        </p:txBody>
      </p:sp>
      <p:pic>
        <p:nvPicPr>
          <p:cNvPr id="4" name="Image 0" descr="preencoded.png">    </p:cNvPr>
          <p:cNvPicPr>
            <a:picLocks noChangeAspect="1"/>
          </p:cNvPicPr>
          <p:nvPr/>
        </p:nvPicPr>
        <p:blipFill>
          <a:blip r:embed="rId1">
            <a:alphaModFix amt="89000"/>
            <a:blur rad="300"/>
            <a:extLst>
              <a:ext uri="{96DAC541-7B7A-43D3-8B79-37D633B846F1}">
                <asvg:svgBlip xmlns:asvg="http://schemas.microsoft.com/office/drawing/2016/SVG/main" r:embed="rId2"/>
              </a:ext>
            </a:extLst>
          </a:blip>
          <a:srcRect l="0" r="0" t="15" b="15"/>
          <a:stretch/>
        </p:blipFill>
        <p:spPr>
          <a:xfrm>
            <a:off x="-998676" y="1576317"/>
            <a:ext cx="11141353" cy="6310985"/>
          </a:xfrm>
          <a:prstGeom prst="rect">
            <a:avLst/>
          </a:prstGeom>
          <a:effectLst>
            <a:blur rad="381000" grow="1"/>
          </a:effectLst>
        </p:spPr>
      </p:pic>
      <p:pic>
        <p:nvPicPr>
          <p:cNvPr id="5" name="Image 1" descr="preencoded.png">    </p:cNvPr>
          <p:cNvPicPr>
            <a:picLocks noChangeAspect="1"/>
          </p:cNvPicPr>
          <p:nvPr/>
        </p:nvPicPr>
        <p:blipFill>
          <a:blip r:embed="rId3">
            <a:alphaModFix amt="85000"/>
            <a:blur rad="300"/>
            <a:extLst>
              <a:ext uri="{96DAC541-7B7A-43D3-8B79-37D633B846F1}">
                <asvg:svgBlip xmlns:asvg="http://schemas.microsoft.com/office/drawing/2016/SVG/main" r:embed="rId4"/>
              </a:ext>
            </a:extLst>
          </a:blip>
          <a:srcRect l="0" r="0" t="0" b="0"/>
          <a:stretch/>
        </p:blipFill>
        <p:spPr>
          <a:xfrm>
            <a:off x="-628650" y="2024893"/>
            <a:ext cx="10401300" cy="5891784"/>
          </a:xfrm>
          <a:prstGeom prst="rect">
            <a:avLst/>
          </a:prstGeom>
          <a:effectLst>
            <a:blur rad="381000" grow="1"/>
          </a:effectLst>
        </p:spPr>
      </p:pic>
      <p:pic>
        <p:nvPicPr>
          <p:cNvPr id="6" name="Image 2" descr="https://pitch-assets-ccb95893-de3f-4266-973c-20049231b248.s3.eu-west-1.amazonaws.com/02d9f661-2793-4804-a31a-85b7766d3c4b?pitch-bytes=1230&amp;pitch-content-type=image%2Fsvg%2Bxml">    </p:cNvPr>
          <p:cNvPicPr>
            <a:picLocks noChangeAspect="1"/>
          </p:cNvPicPr>
          <p:nvPr/>
        </p:nvPicPr>
        <p:blipFill>
          <a:blip r:embed="rId5">
            <a:alphaModFix amt="4000"/>
            <a:extLst>
              <a:ext uri="{96DAC541-7B7A-43D3-8B79-37D633B846F1}">
                <asvg:svgBlip xmlns:asvg="http://schemas.microsoft.com/office/drawing/2016/SVG/main" r:embed="rId6"/>
              </a:ext>
            </a:extLst>
          </a:blip>
          <a:srcRect l="0" r="0" t="0" b="0"/>
          <a:stretch/>
        </p:blipFill>
        <p:spPr>
          <a:xfrm>
            <a:off x="1183357" y="-239284"/>
            <a:ext cx="7089253" cy="5620636"/>
          </a:xfrm>
          <a:prstGeom prst="rect">
            <a:avLst/>
          </a:prstGeom>
        </p:spPr>
      </p:pic>
      <p:sp>
        <p:nvSpPr>
          <p:cNvPr id="7" name="Text 1"/>
          <p:cNvSpPr/>
          <p:nvPr/>
        </p:nvSpPr>
        <p:spPr>
          <a:xfrm>
            <a:off x="709845" y="224242"/>
            <a:ext cx="657374" cy="92869"/>
          </a:xfrm>
          <a:prstGeom prst="rect">
            <a:avLst/>
          </a:prstGeom>
          <a:noFill/>
          <a:ln/>
        </p:spPr>
        <p:txBody>
          <a:bodyPr wrap="square" lIns="0" tIns="0" rIns="0" bIns="0" rtlCol="0" anchor="ctr"/>
          <a:lstStyle/>
          <a:p>
            <a:pPr algn="l">
              <a:lnSpc>
                <a:spcPts val="675"/>
              </a:lnSpc>
            </a:pPr>
            <a:r>
              <a:rPr lang="en-US" sz="700" b="0" dirty="0">
                <a:solidFill>
                  <a:srgbClr val="262626"/>
                </a:solidFill>
                <a:latin typeface="Carlito" pitchFamily="34" charset="0"/>
                <a:ea typeface="Carlito" pitchFamily="34" charset="-122"/>
                <a:cs typeface="Carlito" pitchFamily="34" charset="-120"/>
              </a:rPr>
              <a:t>Shift Porter Novelli</a:t>
            </a:r>
            <a:endParaRPr lang="en-US" sz="675" dirty="0"/>
          </a:p>
        </p:txBody>
      </p:sp>
      <p:sp>
        <p:nvSpPr>
          <p:cNvPr id="8" name="Text 2"/>
          <p:cNvSpPr/>
          <p:nvPr/>
        </p:nvSpPr>
        <p:spPr>
          <a:xfrm>
            <a:off x="8222009" y="168354"/>
            <a:ext cx="400496" cy="228600"/>
          </a:xfrm>
          <a:prstGeom prst="rect">
            <a:avLst/>
          </a:prstGeom>
          <a:noFill/>
          <a:ln/>
        </p:spPr>
        <p:txBody>
          <a:bodyPr wrap="square" lIns="0" tIns="0" rIns="0" bIns="0" rtlCol="0" anchor="ctr"/>
          <a:lstStyle/>
          <a:p>
            <a:pPr algn="r">
              <a:lnSpc>
                <a:spcPts val="900"/>
              </a:lnSpc>
            </a:pPr>
            <a:endParaRPr lang="en-US" sz="900" dirty="0"/>
          </a:p>
        </p:txBody>
      </p:sp>
      <p:sp>
        <p:nvSpPr>
          <p:cNvPr id="9" name="Text 3"/>
          <p:cNvSpPr/>
          <p:nvPr/>
        </p:nvSpPr>
        <p:spPr>
          <a:xfrm>
            <a:off x="7301247" y="236219"/>
            <a:ext cx="1481435" cy="92869"/>
          </a:xfrm>
          <a:prstGeom prst="rect">
            <a:avLst/>
          </a:prstGeom>
          <a:noFill/>
          <a:ln/>
        </p:spPr>
        <p:txBody>
          <a:bodyPr wrap="square" lIns="0" tIns="0" rIns="0" bIns="0" rtlCol="0" anchor="ctr"/>
          <a:lstStyle/>
          <a:p>
            <a:pPr algn="r">
              <a:lnSpc>
                <a:spcPts val="675"/>
              </a:lnSpc>
            </a:pPr>
            <a:r>
              <a:rPr lang="en-US" sz="700" b="0" dirty="0">
                <a:solidFill>
                  <a:srgbClr val="262626"/>
                </a:solidFill>
                <a:latin typeface="Carlito" pitchFamily="34" charset="0"/>
                <a:ea typeface="Carlito" pitchFamily="34" charset="-122"/>
                <a:cs typeface="Carlito" pitchFamily="34" charset="-120"/>
              </a:rPr>
              <a:t>Pitch 2026</a:t>
            </a:r>
            <a:endParaRPr lang="en-US" sz="675" dirty="0"/>
          </a:p>
        </p:txBody>
      </p:sp>
      <p:pic>
        <p:nvPicPr>
          <p:cNvPr id="10" name="Image 3" descr="https://pitch-assets-ccb95893-de3f-4266-973c-20049231b248.s3.eu-west-1.amazonaws.com/9e03999c-47de-4fe5-83b9-cd6fc49dd55f?pitch-bytes=721&amp;pitch-content-type=image%2Fsvg%2Bxml">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4589616" y="3543294"/>
            <a:ext cx="268573" cy="362574"/>
          </a:xfrm>
          <a:prstGeom prst="rect">
            <a:avLst/>
          </a:prstGeom>
        </p:spPr>
      </p:pic>
      <p:sp>
        <p:nvSpPr>
          <p:cNvPr id="11" name="Text 4"/>
          <p:cNvSpPr/>
          <p:nvPr/>
        </p:nvSpPr>
        <p:spPr>
          <a:xfrm>
            <a:off x="3937829" y="4118933"/>
            <a:ext cx="1571327" cy="400050"/>
          </a:xfrm>
          <a:prstGeom prst="rect">
            <a:avLst/>
          </a:prstGeom>
          <a:noFill/>
          <a:ln/>
        </p:spPr>
        <p:txBody>
          <a:bodyPr wrap="square" lIns="0" tIns="0" rIns="0" bIns="0" rtlCol="0" anchor="t"/>
          <a:lstStyle/>
          <a:p>
            <a:pPr algn="ctr">
              <a:lnSpc>
                <a:spcPts val="1050"/>
              </a:lnSpc>
            </a:pPr>
            <a:r>
              <a:rPr lang="en-US" sz="1100" b="1" dirty="0">
                <a:solidFill>
                  <a:srgbClr val="FFFFFF"/>
                </a:solidFill>
                <a:latin typeface="Figtree" pitchFamily="34" charset="0"/>
                <a:ea typeface="Figtree" pitchFamily="34" charset="-122"/>
                <a:cs typeface="Figtree" pitchFamily="34" charset="-120"/>
              </a:rPr>
              <a:t>Hacemos </a:t>
            </a:r>
            <a:pPr algn="ctr">
              <a:lnSpc>
                <a:spcPts val="1050"/>
              </a:lnSpc>
            </a:pPr>
            <a:r>
              <a:rPr lang="en-US" sz="1100" b="1" dirty="0">
                <a:solidFill>
                  <a:srgbClr val="FFFFFF"/>
                </a:solidFill>
                <a:latin typeface="Figtree" pitchFamily="34" charset="0"/>
                <a:ea typeface="Figtree" pitchFamily="34" charset="-122"/>
                <a:cs typeface="Figtree" pitchFamily="34" charset="-120"/>
              </a:rPr>
              <a:t>eco</a:t>
            </a:r>
            <a:endParaRPr lang="en-US" sz="1050" dirty="0"/>
          </a:p>
          <a:p>
            <a:pPr algn="ctr">
              <a:lnSpc>
                <a:spcPts val="1050"/>
              </a:lnSpc>
            </a:pPr>
            <a:r>
              <a:rPr lang="en-US" sz="1100" b="1" dirty="0">
                <a:solidFill>
                  <a:srgbClr val="FFFFFF"/>
                </a:solidFill>
                <a:latin typeface="Figtree" pitchFamily="34" charset="0"/>
                <a:ea typeface="Figtree" pitchFamily="34" charset="-122"/>
                <a:cs typeface="Figtree" pitchFamily="34" charset="-120"/>
              </a:rPr>
              <a:t>Generamos </a:t>
            </a:r>
            <a:pPr algn="ctr">
              <a:lnSpc>
                <a:spcPts val="1050"/>
              </a:lnSpc>
            </a:pPr>
            <a:r>
              <a:rPr lang="en-US" sz="1100" b="1" dirty="0">
                <a:solidFill>
                  <a:srgbClr val="FFFFFF"/>
                </a:solidFill>
                <a:latin typeface="Figtree" pitchFamily="34" charset="0"/>
                <a:ea typeface="Figtree" pitchFamily="34" charset="-122"/>
                <a:cs typeface="Figtree" pitchFamily="34" charset="-120"/>
              </a:rPr>
              <a:t>resonancia</a:t>
            </a:r>
            <a:endParaRPr lang="en-US" sz="1050" dirty="0"/>
          </a:p>
          <a:p>
            <a:pPr algn="ctr">
              <a:lnSpc>
                <a:spcPts val="1050"/>
              </a:lnSpc>
            </a:pPr>
            <a:r>
              <a:rPr lang="en-US" sz="1100" b="1" dirty="0">
                <a:solidFill>
                  <a:srgbClr val="FFFFFF"/>
                </a:solidFill>
                <a:latin typeface="Figtree" pitchFamily="34" charset="0"/>
                <a:ea typeface="Figtree" pitchFamily="34" charset="-122"/>
                <a:cs typeface="Figtree" pitchFamily="34" charset="-120"/>
              </a:rPr>
              <a:t>Concretamos </a:t>
            </a:r>
            <a:pPr algn="ctr">
              <a:lnSpc>
                <a:spcPts val="1050"/>
              </a:lnSpc>
            </a:pPr>
            <a:r>
              <a:rPr lang="en-US" sz="1100" b="1" dirty="0">
                <a:solidFill>
                  <a:srgbClr val="FFFFFF"/>
                </a:solidFill>
                <a:latin typeface="Figtree" pitchFamily="34" charset="0"/>
                <a:ea typeface="Figtree" pitchFamily="34" charset="-122"/>
                <a:cs typeface="Figtree" pitchFamily="34" charset="-120"/>
              </a:rPr>
              <a:t>ideas</a:t>
            </a:r>
            <a:endParaRPr lang="en-US" sz="1050" dirty="0"/>
          </a:p>
        </p:txBody>
      </p:sp>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0FE"/>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blur rad="300"/>
            <a:extLst>
              <a:ext uri="{96DAC541-7B7A-43D3-8B79-37D633B846F1}">
                <asvg:svgBlip xmlns:asvg="http://schemas.microsoft.com/office/drawing/2016/SVG/main" r:embed="rId2"/>
              </a:ext>
            </a:extLst>
          </a:blip>
          <a:srcRect l="0" r="0" t="0" b="0"/>
          <a:stretch/>
        </p:blipFill>
        <p:spPr>
          <a:xfrm>
            <a:off x="7503841" y="-535067"/>
            <a:ext cx="10401300" cy="5891784"/>
          </a:xfrm>
          <a:prstGeom prst="rect">
            <a:avLst/>
          </a:prstGeom>
          <a:effectLst>
            <a:blur rad="381000" grow="1"/>
          </a:effectLst>
        </p:spPr>
      </p:pic>
      <p:pic>
        <p:nvPicPr>
          <p:cNvPr id="4" name="Image 1" descr="preencoded.png">    </p:cNvPr>
          <p:cNvPicPr>
            <a:picLocks noChangeAspect="1"/>
          </p:cNvPicPr>
          <p:nvPr/>
        </p:nvPicPr>
        <p:blipFill>
          <a:blip r:embed="rId3">
            <a:blur rad="300"/>
            <a:extLst>
              <a:ext uri="{96DAC541-7B7A-43D3-8B79-37D633B846F1}">
                <asvg:svgBlip xmlns:asvg="http://schemas.microsoft.com/office/drawing/2016/SVG/main" r:embed="rId4"/>
              </a:ext>
            </a:extLst>
          </a:blip>
          <a:srcRect l="0" r="0" t="0" b="0"/>
          <a:stretch/>
        </p:blipFill>
        <p:spPr>
          <a:xfrm>
            <a:off x="-7060385" y="-585560"/>
            <a:ext cx="10401300" cy="5891784"/>
          </a:xfrm>
          <a:prstGeom prst="rect">
            <a:avLst/>
          </a:prstGeom>
          <a:effectLst>
            <a:blur rad="381000" grow="1"/>
          </a:effectLst>
        </p:spPr>
      </p:pic>
      <p:sp>
        <p:nvSpPr>
          <p:cNvPr id="5" name="Text 0"/>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6" name="Shape 1"/>
          <p:cNvSpPr/>
          <p:nvPr/>
        </p:nvSpPr>
        <p:spPr>
          <a:xfrm>
            <a:off x="521494" y="2624138"/>
            <a:ext cx="3282155" cy="1066446"/>
          </a:xfrm>
          <a:prstGeom prst="roundRect">
            <a:avLst>
              <a:gd name="adj" fmla="val -85743"/>
            </a:avLst>
          </a:prstGeom>
          <a:solidFill>
            <a:srgbClr val="FFFFFF">
              <a:alpha val="0"/>
            </a:srgbClr>
          </a:solidFill>
          <a:ln/>
        </p:spPr>
      </p:sp>
      <p:sp>
        <p:nvSpPr>
          <p:cNvPr id="7" name="Text 2"/>
          <p:cNvSpPr/>
          <p:nvPr/>
        </p:nvSpPr>
        <p:spPr>
          <a:xfrm>
            <a:off x="590074" y="2658428"/>
            <a:ext cx="3213571" cy="822945"/>
          </a:xfrm>
          <a:prstGeom prst="rect">
            <a:avLst/>
          </a:prstGeom>
          <a:noFill/>
          <a:ln/>
        </p:spPr>
        <p:txBody>
          <a:bodyPr wrap="square" lIns="0" tIns="0" rIns="0" bIns="0" rtlCol="0" anchor="t"/>
          <a:lstStyle/>
          <a:p>
            <a:pPr algn="l">
              <a:lnSpc>
                <a:spcPts val="3240"/>
              </a:lnSpc>
            </a:pPr>
            <a:r>
              <a:rPr lang="en-US" sz="3600" b="0" dirty="0">
                <a:solidFill>
                  <a:srgbClr val="EDF0FE"/>
                </a:solidFill>
                <a:latin typeface="Figtree" pitchFamily="34" charset="0"/>
                <a:ea typeface="Figtree" pitchFamily="34" charset="-122"/>
                <a:cs typeface="Figtree" pitchFamily="34" charset="-120"/>
              </a:rPr>
              <a:t>Bienvenidos</a:t>
            </a:r>
            <a:endParaRPr lang="en-US" sz="3600" dirty="0"/>
          </a:p>
          <a:p>
            <a:pPr algn="l">
              <a:lnSpc>
                <a:spcPts val="3240"/>
              </a:lnSpc>
            </a:pPr>
            <a:r>
              <a:rPr lang="en-US" sz="3600" b="0" dirty="0">
                <a:solidFill>
                  <a:srgbClr val="EDF0FE"/>
                </a:solidFill>
                <a:latin typeface="Figtree" pitchFamily="34" charset="0"/>
                <a:ea typeface="Figtree" pitchFamily="34" charset="-122"/>
                <a:cs typeface="Figtree" pitchFamily="34" charset="-120"/>
              </a:rPr>
              <a:t>a Shift</a:t>
            </a:r>
            <a:endParaRPr lang="en-US" sz="3600" dirty="0"/>
          </a:p>
        </p:txBody>
      </p:sp>
      <p:sp>
        <p:nvSpPr>
          <p:cNvPr id="8" name="Shape 3"/>
          <p:cNvSpPr/>
          <p:nvPr/>
        </p:nvSpPr>
        <p:spPr>
          <a:xfrm>
            <a:off x="521495" y="4184296"/>
            <a:ext cx="3282155" cy="414778"/>
          </a:xfrm>
          <a:prstGeom prst="roundRect">
            <a:avLst>
              <a:gd name="adj" fmla="val -220455"/>
            </a:avLst>
          </a:prstGeom>
          <a:solidFill>
            <a:srgbClr val="FFFFFF">
              <a:alpha val="0"/>
            </a:srgbClr>
          </a:solidFill>
          <a:ln/>
        </p:spPr>
      </p:sp>
      <p:sp>
        <p:nvSpPr>
          <p:cNvPr id="9" name="Text 4"/>
          <p:cNvSpPr/>
          <p:nvPr/>
        </p:nvSpPr>
        <p:spPr>
          <a:xfrm>
            <a:off x="590074" y="4218586"/>
            <a:ext cx="3213571" cy="297135"/>
          </a:xfrm>
          <a:prstGeom prst="rect">
            <a:avLst/>
          </a:prstGeom>
          <a:noFill/>
          <a:ln/>
        </p:spPr>
        <p:txBody>
          <a:bodyPr wrap="square" lIns="0" tIns="0" rIns="0" bIns="0" rtlCol="0" anchor="t"/>
          <a:lstStyle/>
          <a:p>
            <a:pPr algn="l">
              <a:lnSpc>
                <a:spcPts val="1170"/>
              </a:lnSpc>
            </a:pPr>
            <a:r>
              <a:rPr lang="en-US" sz="900" b="0" dirty="0">
                <a:solidFill>
                  <a:srgbClr val="EDF0FE"/>
                </a:solidFill>
                <a:latin typeface="Fira Sans" pitchFamily="34" charset="0"/>
                <a:ea typeface="Fira Sans" pitchFamily="34" charset="-122"/>
                <a:cs typeface="Fira Sans" pitchFamily="34" charset="-120"/>
              </a:rPr>
              <a:t>Lorem ipsum dolor sit amet, consectetuer adipiscing elit porttitor congue massa posuere, magna sed pulvinar.</a:t>
            </a:r>
            <a:endParaRPr lang="en-US" sz="900" dirty="0"/>
          </a:p>
        </p:txBody>
      </p:sp>
      <p:sp>
        <p:nvSpPr>
          <p:cNvPr id="10" name="Shape 5"/>
          <p:cNvSpPr/>
          <p:nvPr/>
        </p:nvSpPr>
        <p:spPr>
          <a:xfrm>
            <a:off x="521494" y="3858379"/>
            <a:ext cx="3282155" cy="287290"/>
          </a:xfrm>
          <a:prstGeom prst="roundRect">
            <a:avLst>
              <a:gd name="adj" fmla="val -318285"/>
            </a:avLst>
          </a:prstGeom>
          <a:solidFill>
            <a:srgbClr val="FFFFFF">
              <a:alpha val="0"/>
            </a:srgbClr>
          </a:solidFill>
          <a:ln/>
        </p:spPr>
      </p:sp>
      <p:sp>
        <p:nvSpPr>
          <p:cNvPr id="11" name="Text 6"/>
          <p:cNvSpPr/>
          <p:nvPr/>
        </p:nvSpPr>
        <p:spPr>
          <a:xfrm>
            <a:off x="590074" y="3892669"/>
            <a:ext cx="3213571" cy="198090"/>
          </a:xfrm>
          <a:prstGeom prst="rect">
            <a:avLst/>
          </a:prstGeom>
          <a:noFill/>
          <a:ln/>
        </p:spPr>
        <p:txBody>
          <a:bodyPr wrap="square" lIns="0" tIns="0" rIns="0" bIns="0" rtlCol="0" anchor="t"/>
          <a:lstStyle/>
          <a:p>
            <a:pPr algn="l">
              <a:lnSpc>
                <a:spcPts val="1560"/>
              </a:lnSpc>
            </a:pPr>
            <a:r>
              <a:rPr lang="en-US" sz="1200" b="0" dirty="0">
                <a:solidFill>
                  <a:srgbClr val="EDF0FE"/>
                </a:solidFill>
                <a:latin typeface="Figtree" pitchFamily="34" charset="0"/>
                <a:ea typeface="Figtree" pitchFamily="34" charset="-122"/>
                <a:cs typeface="Figtree" pitchFamily="34" charset="-120"/>
              </a:rPr>
              <a:t>What We Build</a:t>
            </a:r>
            <a:endParaRPr lang="en-US" sz="1200" dirty="0"/>
          </a:p>
        </p:txBody>
      </p:sp>
      <p:sp>
        <p:nvSpPr>
          <p:cNvPr id="12" name="Text 7"/>
          <p:cNvSpPr/>
          <p:nvPr/>
        </p:nvSpPr>
        <p:spPr>
          <a:xfrm>
            <a:off x="6677090" y="2674061"/>
            <a:ext cx="1925012" cy="1925012"/>
          </a:xfrm>
          <a:prstGeom prst="ellipse">
            <a:avLst/>
          </a:prstGeom>
          <a:solidFill>
            <a:srgbClr val="FFFFFF">
              <a:alpha val="0"/>
            </a:srgbClr>
          </a:solidFill>
          <a:ln w="6615">
            <a:solidFill>
              <a:srgbClr val="544DF8"/>
            </a:solidFill>
          </a:ln>
        </p:spPr>
        <p:txBody>
          <a:bodyPr wrap="square" lIns="106945" tIns="227258" rIns="106945" bIns="227258" rtlCol="0" anchor="ctr"/>
          <a:lstStyle/>
          <a:p>
            <a:pPr algn="ctr">
              <a:lnSpc>
                <a:spcPts val="1800"/>
              </a:lnSpc>
            </a:pPr>
            <a:r>
              <a:rPr lang="en-US" sz="3000" b="1" dirty="0">
                <a:solidFill>
                  <a:srgbClr val="EDF0FE"/>
                </a:solidFill>
                <a:latin typeface="Figtree" pitchFamily="34" charset="0"/>
                <a:ea typeface="Figtree" pitchFamily="34" charset="-122"/>
                <a:cs typeface="Figtree" pitchFamily="34" charset="-120"/>
              </a:rPr>
              <a:t>+67%</a:t>
            </a:r>
            <a:endParaRPr lang="en-US" sz="3600" dirty="0"/>
          </a:p>
          <a:p>
            <a:pPr algn="ctr">
              <a:lnSpc>
                <a:spcPts val="1800"/>
              </a:lnSpc>
            </a:pPr>
            <a:r>
              <a:rPr lang="en-US" sz="900" dirty="0">
                <a:solidFill>
                  <a:srgbClr val="EDF0FE"/>
                </a:solidFill>
                <a:latin typeface="Fira Sans" pitchFamily="34" charset="0"/>
                <a:ea typeface="Fira Sans" pitchFamily="34" charset="-122"/>
                <a:cs typeface="Fira Sans" pitchFamily="34" charset="-120"/>
              </a:rPr>
              <a:t>Lorem ipsum dolor sit </a:t>
            </a:r>
            <a:endParaRPr lang="en-US" sz="3600" dirty="0"/>
          </a:p>
        </p:txBody>
      </p:sp>
      <p:sp>
        <p:nvSpPr>
          <p:cNvPr id="13" name="Text 8"/>
          <p:cNvSpPr/>
          <p:nvPr/>
        </p:nvSpPr>
        <p:spPr>
          <a:xfrm>
            <a:off x="4986653" y="2674061"/>
            <a:ext cx="1925012" cy="1925012"/>
          </a:xfrm>
          <a:prstGeom prst="ellipse">
            <a:avLst/>
          </a:prstGeom>
          <a:solidFill>
            <a:srgbClr val="FFFFFF">
              <a:alpha val="0"/>
            </a:srgbClr>
          </a:solidFill>
          <a:ln w="10583">
            <a:solidFill>
              <a:srgbClr val="F540FF"/>
            </a:solidFill>
          </a:ln>
        </p:spPr>
        <p:txBody>
          <a:bodyPr wrap="square" lIns="106945" tIns="227258" rIns="106945" bIns="227258" rtlCol="0" anchor="ctr"/>
          <a:lstStyle/>
          <a:p>
            <a:pPr algn="ctr">
              <a:lnSpc>
                <a:spcPts val="1800"/>
              </a:lnSpc>
            </a:pPr>
            <a:r>
              <a:rPr lang="en-US" sz="3000" b="1" dirty="0">
                <a:solidFill>
                  <a:srgbClr val="0E1745"/>
                </a:solidFill>
                <a:latin typeface="Figtree" pitchFamily="34" charset="0"/>
                <a:ea typeface="Figtree" pitchFamily="34" charset="-122"/>
                <a:cs typeface="Figtree" pitchFamily="34" charset="-120"/>
              </a:rPr>
              <a:t>+43%</a:t>
            </a:r>
            <a:endParaRPr lang="en-US" sz="3600" dirty="0"/>
          </a:p>
          <a:p>
            <a:pPr algn="ctr">
              <a:lnSpc>
                <a:spcPts val="1800"/>
              </a:lnSpc>
            </a:pPr>
            <a:r>
              <a:rPr lang="en-US" sz="900" dirty="0">
                <a:solidFill>
                  <a:srgbClr val="404040"/>
                </a:solidFill>
                <a:latin typeface="Fira Sans" pitchFamily="34" charset="0"/>
                <a:ea typeface="Fira Sans" pitchFamily="34" charset="-122"/>
                <a:cs typeface="Fira Sans" pitchFamily="34" charset="-120"/>
              </a:rPr>
              <a:t>Lorem ipsum dolo sit</a:t>
            </a:r>
            <a:endParaRPr lang="en-US" sz="3600" dirty="0"/>
          </a:p>
        </p:txBody>
      </p:sp>
      <p:sp>
        <p:nvSpPr>
          <p:cNvPr id="14" name="Text 9"/>
          <p:cNvSpPr/>
          <p:nvPr/>
        </p:nvSpPr>
        <p:spPr>
          <a:xfrm>
            <a:off x="709845" y="227814"/>
            <a:ext cx="657374" cy="85725"/>
          </a:xfrm>
          <a:prstGeom prst="rect">
            <a:avLst/>
          </a:prstGeom>
          <a:noFill/>
          <a:ln/>
        </p:spPr>
        <p:txBody>
          <a:bodyPr wrap="square" lIns="0" tIns="0" rIns="0" bIns="0" rtlCol="0" anchor="ctr"/>
          <a:lstStyle/>
          <a:p>
            <a:pPr algn="l">
              <a:lnSpc>
                <a:spcPts val="675"/>
              </a:lnSpc>
            </a:pPr>
            <a:r>
              <a:rPr lang="en-US" sz="700" b="0" dirty="0">
                <a:solidFill>
                  <a:srgbClr val="FFFFFF"/>
                </a:solidFill>
                <a:latin typeface="Carlito" pitchFamily="34" charset="0"/>
                <a:ea typeface="Carlito" pitchFamily="34" charset="-122"/>
                <a:cs typeface="Carlito" pitchFamily="34" charset="-120"/>
              </a:rPr>
              <a:t>Shift Porter Novelli</a:t>
            </a:r>
            <a:endParaRPr lang="en-US" sz="675" dirty="0"/>
          </a:p>
        </p:txBody>
      </p:sp>
      <p:sp>
        <p:nvSpPr>
          <p:cNvPr id="15" name="Text 10"/>
          <p:cNvSpPr/>
          <p:nvPr/>
        </p:nvSpPr>
        <p:spPr>
          <a:xfrm>
            <a:off x="7301247" y="239791"/>
            <a:ext cx="1481435" cy="85725"/>
          </a:xfrm>
          <a:prstGeom prst="rect">
            <a:avLst/>
          </a:prstGeom>
          <a:noFill/>
          <a:ln/>
        </p:spPr>
        <p:txBody>
          <a:bodyPr wrap="square" lIns="0" tIns="0" rIns="0" bIns="0" rtlCol="0" anchor="ctr"/>
          <a:lstStyle/>
          <a:p>
            <a:pPr algn="r">
              <a:lnSpc>
                <a:spcPts val="675"/>
              </a:lnSpc>
            </a:pPr>
            <a:r>
              <a:rPr lang="en-US" sz="700" b="0" dirty="0">
                <a:solidFill>
                  <a:srgbClr val="0E1745"/>
                </a:solidFill>
                <a:latin typeface="Carlito" pitchFamily="34" charset="0"/>
                <a:ea typeface="Carlito" pitchFamily="34" charset="-122"/>
                <a:cs typeface="Carlito" pitchFamily="34" charset="-120"/>
              </a:rPr>
              <a:t>Pitch 2026</a:t>
            </a:r>
            <a:endParaRPr lang="en-US" sz="675" dirty="0"/>
          </a:p>
        </p:txBody>
      </p:sp>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0FE"/>
        </a:solidFill>
      </p:bgPr>
    </p:bg>
    <p:spTree>
      <p:nvGrpSpPr>
        <p:cNvPr id="1" name=""/>
        <p:cNvGrpSpPr/>
        <p:nvPr/>
      </p:nvGrpSpPr>
      <p:grpSpPr>
        <a:xfrm>
          <a:off x="0" y="0"/>
          <a:ext cx="0" cy="0"/>
          <a:chOff x="0" y="0"/>
          <a:chExt cx="0" cy="0"/>
        </a:xfrm>
      </p:grpSpPr>
      <p:sp>
        <p:nvSpPr>
          <p:cNvPr id="3" name="Shape 0"/>
          <p:cNvSpPr/>
          <p:nvPr/>
        </p:nvSpPr>
        <p:spPr>
          <a:xfrm>
            <a:off x="521494" y="1509713"/>
            <a:ext cx="8101013" cy="1315745"/>
          </a:xfrm>
          <a:prstGeom prst="roundRect">
            <a:avLst>
              <a:gd name="adj" fmla="val -69497"/>
            </a:avLst>
          </a:prstGeom>
          <a:solidFill>
            <a:srgbClr val="FFFFFF">
              <a:alpha val="0"/>
            </a:srgbClr>
          </a:solidFill>
          <a:ln/>
        </p:spPr>
      </p:sp>
      <p:sp>
        <p:nvSpPr>
          <p:cNvPr id="4" name="Text 1"/>
          <p:cNvSpPr/>
          <p:nvPr/>
        </p:nvSpPr>
        <p:spPr>
          <a:xfrm>
            <a:off x="590107" y="1741626"/>
            <a:ext cx="8032366" cy="857250"/>
          </a:xfrm>
          <a:prstGeom prst="rect">
            <a:avLst/>
          </a:prstGeom>
          <a:noFill/>
          <a:ln/>
        </p:spPr>
        <p:txBody>
          <a:bodyPr wrap="square" lIns="0" tIns="0" rIns="0" bIns="0" rtlCol="0" anchor="t"/>
          <a:lstStyle/>
          <a:p>
            <a:pPr algn="ctr">
              <a:lnSpc>
                <a:spcPts val="3375"/>
              </a:lnSpc>
            </a:pPr>
            <a:r>
              <a:rPr lang="en-US" sz="4500" b="0" dirty="0">
                <a:solidFill>
                  <a:srgbClr val="262626"/>
                </a:solidFill>
                <a:latin typeface="Glitz" pitchFamily="34" charset="0"/>
                <a:ea typeface="Glitz" pitchFamily="34" charset="-122"/>
                <a:cs typeface="Glitz" pitchFamily="34" charset="-120"/>
              </a:rPr>
              <a:t>GENERAMOS </a:t>
            </a:r>
            <a:endParaRPr lang="en-US" sz="4500" dirty="0"/>
          </a:p>
          <a:p>
            <a:pPr algn="ctr">
              <a:lnSpc>
                <a:spcPts val="3375"/>
              </a:lnSpc>
            </a:pPr>
            <a:r>
              <a:rPr lang="en-US" sz="4500" b="0" dirty="0">
                <a:solidFill>
                  <a:srgbClr val="262626"/>
                </a:solidFill>
                <a:latin typeface="Glitz" pitchFamily="34" charset="0"/>
                <a:ea typeface="Glitz" pitchFamily="34" charset="-122"/>
                <a:cs typeface="Glitz" pitchFamily="34" charset="-120"/>
              </a:rPr>
              <a:t>RESONANCIA</a:t>
            </a:r>
            <a:endParaRPr lang="en-US" sz="4500" dirty="0"/>
          </a:p>
        </p:txBody>
      </p:sp>
      <p:sp>
        <p:nvSpPr>
          <p:cNvPr id="5" name="Shape 2"/>
          <p:cNvSpPr/>
          <p:nvPr/>
        </p:nvSpPr>
        <p:spPr>
          <a:xfrm>
            <a:off x="828675" y="2939905"/>
            <a:ext cx="7486650" cy="414778"/>
          </a:xfrm>
          <a:prstGeom prst="roundRect">
            <a:avLst>
              <a:gd name="adj" fmla="val -220455"/>
            </a:avLst>
          </a:prstGeom>
          <a:solidFill>
            <a:srgbClr val="FFFFFF">
              <a:alpha val="0"/>
            </a:srgbClr>
          </a:solidFill>
          <a:ln/>
        </p:spPr>
      </p:sp>
      <p:sp>
        <p:nvSpPr>
          <p:cNvPr id="6" name="Text 3"/>
          <p:cNvSpPr/>
          <p:nvPr/>
        </p:nvSpPr>
        <p:spPr>
          <a:xfrm>
            <a:off x="5589478" y="3037488"/>
            <a:ext cx="45951" cy="1371600"/>
          </a:xfrm>
          <a:prstGeom prst="rect">
            <a:avLst/>
          </a:prstGeom>
          <a:noFill/>
          <a:ln/>
        </p:spPr>
        <p:txBody>
          <a:bodyPr wrap="square" lIns="0" tIns="0" rIns="0" bIns="0" rtlCol="0" anchor="ctr"/>
          <a:lstStyle/>
          <a:p>
            <a:pPr algn="ctr">
              <a:lnSpc>
                <a:spcPts val="1350"/>
              </a:lnSpc>
            </a:pPr>
            <a:endParaRPr lang="en-US" sz="1350" dirty="0"/>
          </a:p>
        </p:txBody>
      </p:sp>
      <p:pic>
        <p:nvPicPr>
          <p:cNvPr id="7" name="Image 0" descr="https://pitch-assets-ccb95893-de3f-4266-973c-20049231b248.s3.eu-west-1.amazonaws.com/9e03999c-47de-4fe5-83b9-cd6fc49dd55f?pitch-bytes=721&amp;pitch-content-type=image%2Fsvg%2Bxml">    </p:cNvPr>
          <p:cNvPicPr>
            <a:picLocks noChangeAspect="1"/>
          </p:cNvPicPr>
          <p:nvPr/>
        </p:nvPicPr>
        <p:blipFill>
          <a:blip r:embed="rId1">
            <a:alphaModFix amt="51000"/>
            <a:blur rad="300"/>
            <a:extLst>
              <a:ext uri="{96DAC541-7B7A-43D3-8B79-37D633B846F1}">
                <asvg:svgBlip xmlns:asvg="http://schemas.microsoft.com/office/drawing/2016/SVG/main" r:embed="rId2"/>
              </a:ext>
            </a:extLst>
          </a:blip>
          <a:srcRect l="0" r="0" t="0" b="0"/>
          <a:stretch/>
        </p:blipFill>
        <p:spPr>
          <a:xfrm>
            <a:off x="1832656" y="-885288"/>
            <a:ext cx="5118846" cy="6910441"/>
          </a:xfrm>
          <a:prstGeom prst="rect">
            <a:avLst/>
          </a:prstGeom>
          <a:effectLst>
            <a:blur rad="381000" grow="1"/>
          </a:effectLst>
        </p:spPr>
      </p:pic>
      <p:sp>
        <p:nvSpPr>
          <p:cNvPr id="8" name="Text 4"/>
          <p:cNvSpPr/>
          <p:nvPr/>
        </p:nvSpPr>
        <p:spPr>
          <a:xfrm>
            <a:off x="3425139" y="3374944"/>
            <a:ext cx="1928897" cy="279532"/>
          </a:xfrm>
          <a:prstGeom prst="roundRect">
            <a:avLst>
              <a:gd name="adj" fmla="val 81780"/>
            </a:avLst>
          </a:prstGeom>
          <a:solidFill>
            <a:srgbClr val="000DFF"/>
          </a:solidFill>
          <a:ln/>
        </p:spPr>
        <p:txBody>
          <a:bodyPr wrap="square" lIns="107161" tIns="33000" rIns="107161" bIns="33000" rtlCol="0" anchor="ctr"/>
          <a:lstStyle/>
          <a:p>
            <a:pPr algn="ctr">
              <a:lnSpc>
                <a:spcPts val="1080"/>
              </a:lnSpc>
            </a:pPr>
            <a:r>
              <a:rPr lang="en-US" sz="1200" b="1" dirty="0">
                <a:solidFill>
                  <a:srgbClr val="FFFFFF"/>
                </a:solidFill>
                <a:latin typeface="Figtree" pitchFamily="34" charset="0"/>
                <a:ea typeface="Figtree" pitchFamily="34" charset="-122"/>
                <a:cs typeface="Figtree" pitchFamily="34" charset="-120"/>
              </a:rPr>
              <a:t>Concretamos ideas</a:t>
            </a:r>
            <a:endParaRPr lang="en-US" sz="1200" dirty="0"/>
          </a:p>
        </p:txBody>
      </p:sp>
      <p:sp>
        <p:nvSpPr>
          <p:cNvPr id="9" name="Text 5"/>
          <p:cNvSpPr/>
          <p:nvPr/>
        </p:nvSpPr>
        <p:spPr>
          <a:xfrm>
            <a:off x="897270" y="2824480"/>
            <a:ext cx="7418040" cy="297135"/>
          </a:xfrm>
          <a:prstGeom prst="rect">
            <a:avLst/>
          </a:prstGeom>
          <a:noFill/>
          <a:ln/>
        </p:spPr>
        <p:txBody>
          <a:bodyPr wrap="square" lIns="0" tIns="0" rIns="0" bIns="0" rtlCol="0" anchor="t"/>
          <a:lstStyle/>
          <a:p>
            <a:pPr algn="ctr">
              <a:lnSpc>
                <a:spcPts val="1170"/>
              </a:lnSpc>
            </a:pPr>
            <a:r>
              <a:rPr lang="en-US" sz="900" b="0" dirty="0">
                <a:solidFill>
                  <a:srgbClr val="0E1745"/>
                </a:solidFill>
                <a:latin typeface="Fira Sans" pitchFamily="34" charset="0"/>
                <a:ea typeface="Fira Sans" pitchFamily="34" charset="-122"/>
                <a:cs typeface="Fira Sans" pitchFamily="34" charset="-120"/>
              </a:rPr>
              <a:t>Lorem ipsum dolor sit amet, consectetuer adipiscing elit. Maecenas porttitor congue massa. Fusce posuere, magna sed pulvinar ultricies, purus lectus malesuada libero, sit amet commodo magna eros quis urna. Nunc viverra imperdiet enim. Fusce est. Vivamus a tellus.</a:t>
            </a:r>
            <a:endParaRPr lang="en-US" sz="900" dirty="0"/>
          </a:p>
        </p:txBody>
      </p:sp>
      <p:sp>
        <p:nvSpPr>
          <p:cNvPr id="10" name="Text 6"/>
          <p:cNvSpPr/>
          <p:nvPr/>
        </p:nvSpPr>
        <p:spPr>
          <a:xfrm>
            <a:off x="709845" y="227814"/>
            <a:ext cx="657374" cy="85725"/>
          </a:xfrm>
          <a:prstGeom prst="rect">
            <a:avLst/>
          </a:prstGeom>
          <a:noFill/>
          <a:ln/>
        </p:spPr>
        <p:txBody>
          <a:bodyPr wrap="square" lIns="0" tIns="0" rIns="0" bIns="0" rtlCol="0" anchor="ctr"/>
          <a:lstStyle/>
          <a:p>
            <a:pPr algn="l">
              <a:lnSpc>
                <a:spcPts val="675"/>
              </a:lnSpc>
            </a:pPr>
            <a:r>
              <a:rPr lang="en-US" sz="700" b="0" dirty="0">
                <a:solidFill>
                  <a:srgbClr val="262626"/>
                </a:solidFill>
                <a:latin typeface="Carlito" pitchFamily="34" charset="0"/>
                <a:ea typeface="Carlito" pitchFamily="34" charset="-122"/>
                <a:cs typeface="Carlito" pitchFamily="34" charset="-120"/>
              </a:rPr>
              <a:t>Shift Porter Novelli</a:t>
            </a:r>
            <a:endParaRPr lang="en-US" sz="675" dirty="0"/>
          </a:p>
        </p:txBody>
      </p:sp>
      <p:sp>
        <p:nvSpPr>
          <p:cNvPr id="11" name="Text 7"/>
          <p:cNvSpPr/>
          <p:nvPr/>
        </p:nvSpPr>
        <p:spPr>
          <a:xfrm>
            <a:off x="7301247" y="239791"/>
            <a:ext cx="1481435" cy="85725"/>
          </a:xfrm>
          <a:prstGeom prst="rect">
            <a:avLst/>
          </a:prstGeom>
          <a:noFill/>
          <a:ln/>
        </p:spPr>
        <p:txBody>
          <a:bodyPr wrap="square" lIns="0" tIns="0" rIns="0" bIns="0" rtlCol="0" anchor="ctr"/>
          <a:lstStyle/>
          <a:p>
            <a:pPr algn="r">
              <a:lnSpc>
                <a:spcPts val="675"/>
              </a:lnSpc>
            </a:pPr>
            <a:r>
              <a:rPr lang="en-US" sz="700" b="0" dirty="0">
                <a:solidFill>
                  <a:srgbClr val="262626"/>
                </a:solidFill>
                <a:latin typeface="Carlito" pitchFamily="34" charset="0"/>
                <a:ea typeface="Carlito" pitchFamily="34" charset="-122"/>
                <a:cs typeface="Carlito" pitchFamily="34" charset="-120"/>
              </a:rPr>
              <a:t>Pitch 2026</a:t>
            </a:r>
            <a:endParaRPr lang="en-US" sz="675" dirty="0"/>
          </a:p>
        </p:txBody>
      </p:sp>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0FE"/>
        </a:solidFill>
      </p:bgPr>
    </p:bg>
    <p:spTree>
      <p:nvGrpSpPr>
        <p:cNvPr id="1" name=""/>
        <p:cNvGrpSpPr/>
        <p:nvPr/>
      </p:nvGrpSpPr>
      <p:grpSpPr>
        <a:xfrm>
          <a:off x="0" y="0"/>
          <a:ext cx="0" cy="0"/>
          <a:chOff x="0" y="0"/>
          <a:chExt cx="0" cy="0"/>
        </a:xfrm>
      </p:grpSpPr>
      <p:pic>
        <p:nvPicPr>
          <p:cNvPr id="3" name="Image 0" descr="https://pitch-assets-ccb95893-de3f-4266-973c-20049231b248.s3.eu-west-1.amazonaws.com/02d9f661-2793-4804-a31a-85b7766d3c4b?pitch-bytes=1230&amp;pitch-content-type=image%2Fsvg%2Bxml">    </p:cNvPr>
          <p:cNvPicPr>
            <a:picLocks noChangeAspect="1"/>
          </p:cNvPicPr>
          <p:nvPr/>
        </p:nvPicPr>
        <p:blipFill>
          <a:blip r:embed="rId1">
            <a:alphaModFix amt="2000"/>
            <a:extLst>
              <a:ext uri="{96DAC541-7B7A-43D3-8B79-37D633B846F1}">
                <asvg:svgBlip xmlns:asvg="http://schemas.microsoft.com/office/drawing/2016/SVG/main" r:embed="rId2"/>
              </a:ext>
            </a:extLst>
          </a:blip>
          <a:srcRect l="0" r="0" t="0" b="0"/>
          <a:stretch/>
        </p:blipFill>
        <p:spPr>
          <a:xfrm>
            <a:off x="1183357" y="-239284"/>
            <a:ext cx="7089253" cy="5620636"/>
          </a:xfrm>
          <a:prstGeom prst="rect">
            <a:avLst/>
          </a:prstGeom>
        </p:spPr>
      </p:pic>
      <p:pic>
        <p:nvPicPr>
          <p:cNvPr id="4" name="Image 1" descr="preencoded.png">    </p:cNvPr>
          <p:cNvPicPr>
            <a:picLocks noChangeAspect="1"/>
          </p:cNvPicPr>
          <p:nvPr/>
        </p:nvPicPr>
        <p:blipFill>
          <a:blip r:embed="rId3">
            <a:alphaModFix amt="36000"/>
            <a:blur rad="300"/>
            <a:extLst>
              <a:ext uri="{96DAC541-7B7A-43D3-8B79-37D633B846F1}">
                <asvg:svgBlip xmlns:asvg="http://schemas.microsoft.com/office/drawing/2016/SVG/main" r:embed="rId4"/>
              </a:ext>
            </a:extLst>
          </a:blip>
          <a:srcRect l="0" r="0" t="0" b="0"/>
          <a:stretch/>
        </p:blipFill>
        <p:spPr>
          <a:xfrm>
            <a:off x="-628650" y="3696275"/>
            <a:ext cx="10401300" cy="5891784"/>
          </a:xfrm>
          <a:prstGeom prst="rect">
            <a:avLst/>
          </a:prstGeom>
          <a:effectLst>
            <a:blur rad="381000" grow="1"/>
          </a:effectLst>
        </p:spPr>
      </p:pic>
      <p:sp>
        <p:nvSpPr>
          <p:cNvPr id="5" name="Text 0"/>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6" name="Text 1"/>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7" name="Text 2"/>
          <p:cNvSpPr/>
          <p:nvPr/>
        </p:nvSpPr>
        <p:spPr>
          <a:xfrm>
            <a:off x="125008" y="3882845"/>
            <a:ext cx="9018984" cy="171450"/>
          </a:xfrm>
          <a:prstGeom prst="rect">
            <a:avLst/>
          </a:prstGeom>
          <a:noFill/>
          <a:ln/>
        </p:spPr>
        <p:txBody>
          <a:bodyPr wrap="square" lIns="0" tIns="0" rIns="0" bIns="0" rtlCol="0" anchor="ctr"/>
          <a:lstStyle/>
          <a:p>
            <a:pPr algn="ctr">
              <a:lnSpc>
                <a:spcPts val="1350"/>
              </a:lnSpc>
            </a:pPr>
            <a:endParaRPr lang="en-US" sz="1350" dirty="0"/>
          </a:p>
        </p:txBody>
      </p:sp>
      <p:sp>
        <p:nvSpPr>
          <p:cNvPr id="8" name="Text 3"/>
          <p:cNvSpPr/>
          <p:nvPr/>
        </p:nvSpPr>
        <p:spPr>
          <a:xfrm>
            <a:off x="3397140" y="1937395"/>
            <a:ext cx="2469492" cy="2728913"/>
          </a:xfrm>
          <a:prstGeom prst="roundRect">
            <a:avLst>
              <a:gd name="adj" fmla="val 5207"/>
            </a:avLst>
          </a:prstGeom>
          <a:solidFill>
            <a:srgbClr val="262626">
              <a:alpha val="8000"/>
            </a:srgbClr>
          </a:solidFill>
          <a:ln/>
          <a:effectLst>
            <a:outerShdw sx="100000" sy="100000" kx="0" ky="0" algn="bl" rotWithShape="0" blurRad="127000" dist="38100" dir="3600000">
              <a:srgbClr val="000000">
                <a:alpha val="20000"/>
              </a:srgbClr>
            </a:outerShdw>
          </a:effectLst>
        </p:spPr>
        <p:txBody>
          <a:bodyPr wrap="square" lIns="137194" tIns="322163" rIns="137194" bIns="322163" rtlCol="0" anchor="ctr"/>
          <a:lstStyle/>
          <a:p>
            <a:pPr algn="ctr">
              <a:lnSpc>
                <a:spcPts val="3240"/>
              </a:lnSpc>
            </a:pPr>
            <a:endParaRPr lang="en-US" sz="3600" dirty="0"/>
          </a:p>
        </p:txBody>
      </p:sp>
      <p:sp>
        <p:nvSpPr>
          <p:cNvPr id="9" name="Text 4"/>
          <p:cNvSpPr/>
          <p:nvPr/>
        </p:nvSpPr>
        <p:spPr>
          <a:xfrm>
            <a:off x="557425" y="1895475"/>
            <a:ext cx="2469492" cy="2728913"/>
          </a:xfrm>
          <a:prstGeom prst="roundRect">
            <a:avLst>
              <a:gd name="adj" fmla="val 5207"/>
            </a:avLst>
          </a:prstGeom>
          <a:solidFill>
            <a:srgbClr val="262626">
              <a:alpha val="8000"/>
            </a:srgbClr>
          </a:solidFill>
          <a:ln/>
          <a:effectLst>
            <a:outerShdw sx="100000" sy="100000" kx="0" ky="0" algn="bl" rotWithShape="0" blurRad="127000" dist="38100" dir="3600000">
              <a:srgbClr val="000000">
                <a:alpha val="20000"/>
              </a:srgbClr>
            </a:outerShdw>
          </a:effectLst>
        </p:spPr>
        <p:txBody>
          <a:bodyPr wrap="square" lIns="137194" tIns="322163" rIns="137194" bIns="322163" rtlCol="0" anchor="ctr"/>
          <a:lstStyle/>
          <a:p>
            <a:pPr algn="ctr">
              <a:lnSpc>
                <a:spcPts val="3240"/>
              </a:lnSpc>
            </a:pPr>
            <a:endParaRPr lang="en-US" sz="3600" dirty="0"/>
          </a:p>
        </p:txBody>
      </p:sp>
      <p:sp>
        <p:nvSpPr>
          <p:cNvPr id="10" name="Text 5"/>
          <p:cNvSpPr/>
          <p:nvPr/>
        </p:nvSpPr>
        <p:spPr>
          <a:xfrm>
            <a:off x="6153014" y="1895475"/>
            <a:ext cx="2469492" cy="2728913"/>
          </a:xfrm>
          <a:prstGeom prst="roundRect">
            <a:avLst>
              <a:gd name="adj" fmla="val 5207"/>
            </a:avLst>
          </a:prstGeom>
          <a:solidFill>
            <a:srgbClr val="262626">
              <a:alpha val="8000"/>
            </a:srgbClr>
          </a:solidFill>
          <a:ln/>
          <a:effectLst>
            <a:outerShdw sx="100000" sy="100000" kx="0" ky="0" algn="bl" rotWithShape="0" blurRad="127000" dist="38100" dir="3600000">
              <a:srgbClr val="000000">
                <a:alpha val="20000"/>
              </a:srgbClr>
            </a:outerShdw>
          </a:effectLst>
        </p:spPr>
        <p:txBody>
          <a:bodyPr wrap="square" lIns="137194" tIns="322163" rIns="137194" bIns="322163" rtlCol="0" anchor="ctr"/>
          <a:lstStyle/>
          <a:p>
            <a:pPr algn="ctr">
              <a:lnSpc>
                <a:spcPts val="3240"/>
              </a:lnSpc>
            </a:pPr>
            <a:endParaRPr lang="en-US" sz="3600" dirty="0"/>
          </a:p>
        </p:txBody>
      </p:sp>
      <p:sp>
        <p:nvSpPr>
          <p:cNvPr id="11" name="Shape 6"/>
          <p:cNvSpPr/>
          <p:nvPr/>
        </p:nvSpPr>
        <p:spPr>
          <a:xfrm>
            <a:off x="3543233" y="3981009"/>
            <a:ext cx="2057535" cy="414778"/>
          </a:xfrm>
          <a:prstGeom prst="roundRect">
            <a:avLst>
              <a:gd name="adj" fmla="val -220455"/>
            </a:avLst>
          </a:prstGeom>
          <a:solidFill>
            <a:srgbClr val="FFFFFF">
              <a:alpha val="0"/>
            </a:srgbClr>
          </a:solidFill>
          <a:ln/>
        </p:spPr>
      </p:sp>
      <p:sp>
        <p:nvSpPr>
          <p:cNvPr id="12" name="Text 7"/>
          <p:cNvSpPr/>
          <p:nvPr/>
        </p:nvSpPr>
        <p:spPr>
          <a:xfrm>
            <a:off x="3611813" y="4015299"/>
            <a:ext cx="1988939" cy="297135"/>
          </a:xfrm>
          <a:prstGeom prst="rect">
            <a:avLst/>
          </a:prstGeom>
          <a:noFill/>
          <a:ln/>
        </p:spPr>
        <p:txBody>
          <a:bodyPr wrap="square" lIns="0" tIns="0" rIns="0" bIns="0" rtlCol="0" anchor="t"/>
          <a:lstStyle/>
          <a:p>
            <a:pPr algn="l">
              <a:lnSpc>
                <a:spcPts val="1170"/>
              </a:lnSpc>
            </a:pPr>
            <a:r>
              <a:rPr lang="en-US" sz="900" b="0" dirty="0">
                <a:solidFill>
                  <a:srgbClr val="EDF0FE"/>
                </a:solidFill>
                <a:latin typeface="Carlito" pitchFamily="34" charset="0"/>
                <a:ea typeface="Carlito" pitchFamily="34" charset="-122"/>
                <a:cs typeface="Carlito" pitchFamily="34" charset="-120"/>
              </a:rPr>
              <a:t>Lorem ipsum dolor sit amet porttitor congue massa magna sed pulvinar.</a:t>
            </a:r>
            <a:endParaRPr lang="en-US" sz="900" dirty="0"/>
          </a:p>
        </p:txBody>
      </p:sp>
      <p:sp>
        <p:nvSpPr>
          <p:cNvPr id="13" name="Shape 8"/>
          <p:cNvSpPr/>
          <p:nvPr/>
        </p:nvSpPr>
        <p:spPr>
          <a:xfrm>
            <a:off x="3543233" y="3693719"/>
            <a:ext cx="2057535" cy="287291"/>
          </a:xfrm>
          <a:prstGeom prst="roundRect">
            <a:avLst>
              <a:gd name="adj" fmla="val -318284"/>
            </a:avLst>
          </a:prstGeom>
          <a:solidFill>
            <a:srgbClr val="FFFFFF">
              <a:alpha val="0"/>
            </a:srgbClr>
          </a:solidFill>
          <a:ln/>
        </p:spPr>
      </p:sp>
      <p:sp>
        <p:nvSpPr>
          <p:cNvPr id="14" name="Text 9"/>
          <p:cNvSpPr/>
          <p:nvPr/>
        </p:nvSpPr>
        <p:spPr>
          <a:xfrm>
            <a:off x="3611813" y="3728009"/>
            <a:ext cx="1988939" cy="198090"/>
          </a:xfrm>
          <a:prstGeom prst="rect">
            <a:avLst/>
          </a:prstGeom>
          <a:noFill/>
          <a:ln/>
        </p:spPr>
        <p:txBody>
          <a:bodyPr wrap="square" lIns="0" tIns="0" rIns="0" bIns="0" rtlCol="0" anchor="t"/>
          <a:lstStyle/>
          <a:p>
            <a:pPr algn="l">
              <a:lnSpc>
                <a:spcPts val="1560"/>
              </a:lnSpc>
            </a:pPr>
            <a:r>
              <a:rPr lang="en-US" sz="1200" b="1" dirty="0">
                <a:solidFill>
                  <a:srgbClr val="EDF0FE"/>
                </a:solidFill>
                <a:latin typeface="Figtree" pitchFamily="34" charset="0"/>
                <a:ea typeface="Figtree" pitchFamily="34" charset="-122"/>
                <a:cs typeface="Figtree" pitchFamily="34" charset="-120"/>
              </a:rPr>
              <a:t>Secure by Design</a:t>
            </a:r>
            <a:endParaRPr lang="en-US" sz="1200" dirty="0"/>
          </a:p>
        </p:txBody>
      </p:sp>
      <p:sp>
        <p:nvSpPr>
          <p:cNvPr id="15" name="Shape 10"/>
          <p:cNvSpPr/>
          <p:nvPr/>
        </p:nvSpPr>
        <p:spPr>
          <a:xfrm>
            <a:off x="727473" y="2411365"/>
            <a:ext cx="2057535" cy="414778"/>
          </a:xfrm>
          <a:prstGeom prst="roundRect">
            <a:avLst>
              <a:gd name="adj" fmla="val -220455"/>
            </a:avLst>
          </a:prstGeom>
          <a:solidFill>
            <a:srgbClr val="FFFFFF">
              <a:alpha val="0"/>
            </a:srgbClr>
          </a:solidFill>
          <a:ln/>
        </p:spPr>
      </p:sp>
      <p:sp>
        <p:nvSpPr>
          <p:cNvPr id="16" name="Text 11"/>
          <p:cNvSpPr/>
          <p:nvPr/>
        </p:nvSpPr>
        <p:spPr>
          <a:xfrm>
            <a:off x="796053" y="2445655"/>
            <a:ext cx="1988939" cy="297135"/>
          </a:xfrm>
          <a:prstGeom prst="rect">
            <a:avLst/>
          </a:prstGeom>
          <a:noFill/>
          <a:ln/>
        </p:spPr>
        <p:txBody>
          <a:bodyPr wrap="square" lIns="0" tIns="0" rIns="0" bIns="0" rtlCol="0" anchor="t"/>
          <a:lstStyle/>
          <a:p>
            <a:pPr algn="l">
              <a:lnSpc>
                <a:spcPts val="1170"/>
              </a:lnSpc>
            </a:pPr>
            <a:r>
              <a:rPr lang="en-US" sz="900" b="0" dirty="0">
                <a:solidFill>
                  <a:srgbClr val="0E1745"/>
                </a:solidFill>
                <a:latin typeface="Carlito" pitchFamily="34" charset="0"/>
                <a:ea typeface="Carlito" pitchFamily="34" charset="-122"/>
                <a:cs typeface="Carlito" pitchFamily="34" charset="-120"/>
              </a:rPr>
              <a:t>Lorem ipsum dolor sit amet porttitor congue massa magna sed pulvinar.</a:t>
            </a:r>
            <a:endParaRPr lang="en-US" sz="900" dirty="0"/>
          </a:p>
        </p:txBody>
      </p:sp>
      <p:sp>
        <p:nvSpPr>
          <p:cNvPr id="17" name="Shape 12"/>
          <p:cNvSpPr/>
          <p:nvPr/>
        </p:nvSpPr>
        <p:spPr>
          <a:xfrm>
            <a:off x="727472" y="2124074"/>
            <a:ext cx="2057535" cy="287291"/>
          </a:xfrm>
          <a:prstGeom prst="roundRect">
            <a:avLst>
              <a:gd name="adj" fmla="val -318284"/>
            </a:avLst>
          </a:prstGeom>
          <a:solidFill>
            <a:srgbClr val="FFFFFF">
              <a:alpha val="0"/>
            </a:srgbClr>
          </a:solidFill>
          <a:ln/>
        </p:spPr>
      </p:sp>
      <p:sp>
        <p:nvSpPr>
          <p:cNvPr id="18" name="Text 13"/>
          <p:cNvSpPr/>
          <p:nvPr/>
        </p:nvSpPr>
        <p:spPr>
          <a:xfrm>
            <a:off x="796052" y="2158364"/>
            <a:ext cx="1988939" cy="198090"/>
          </a:xfrm>
          <a:prstGeom prst="rect">
            <a:avLst/>
          </a:prstGeom>
          <a:noFill/>
          <a:ln/>
        </p:spPr>
        <p:txBody>
          <a:bodyPr wrap="square" lIns="0" tIns="0" rIns="0" bIns="0" rtlCol="0" anchor="t"/>
          <a:lstStyle/>
          <a:p>
            <a:pPr algn="l">
              <a:lnSpc>
                <a:spcPts val="1560"/>
              </a:lnSpc>
            </a:pPr>
            <a:r>
              <a:rPr lang="en-US" sz="1200" b="1" dirty="0">
                <a:solidFill>
                  <a:srgbClr val="0E1745"/>
                </a:solidFill>
                <a:latin typeface="Figtree" pitchFamily="34" charset="0"/>
                <a:ea typeface="Figtree" pitchFamily="34" charset="-122"/>
                <a:cs typeface="Figtree" pitchFamily="34" charset="-120"/>
              </a:rPr>
              <a:t>Fast Deployment</a:t>
            </a:r>
            <a:endParaRPr lang="en-US" sz="1200" dirty="0"/>
          </a:p>
        </p:txBody>
      </p:sp>
      <p:sp>
        <p:nvSpPr>
          <p:cNvPr id="19" name="Shape 14"/>
          <p:cNvSpPr/>
          <p:nvPr/>
        </p:nvSpPr>
        <p:spPr>
          <a:xfrm>
            <a:off x="6358993" y="2411365"/>
            <a:ext cx="2057535" cy="414778"/>
          </a:xfrm>
          <a:prstGeom prst="roundRect">
            <a:avLst>
              <a:gd name="adj" fmla="val -220455"/>
            </a:avLst>
          </a:prstGeom>
          <a:solidFill>
            <a:srgbClr val="FFFFFF">
              <a:alpha val="0"/>
            </a:srgbClr>
          </a:solidFill>
          <a:ln/>
        </p:spPr>
      </p:sp>
      <p:sp>
        <p:nvSpPr>
          <p:cNvPr id="20" name="Text 15"/>
          <p:cNvSpPr/>
          <p:nvPr/>
        </p:nvSpPr>
        <p:spPr>
          <a:xfrm>
            <a:off x="6427573" y="2445655"/>
            <a:ext cx="1988939" cy="297135"/>
          </a:xfrm>
          <a:prstGeom prst="rect">
            <a:avLst/>
          </a:prstGeom>
          <a:noFill/>
          <a:ln/>
        </p:spPr>
        <p:txBody>
          <a:bodyPr wrap="square" lIns="0" tIns="0" rIns="0" bIns="0" rtlCol="0" anchor="t"/>
          <a:lstStyle/>
          <a:p>
            <a:pPr algn="l">
              <a:lnSpc>
                <a:spcPts val="1170"/>
              </a:lnSpc>
            </a:pPr>
            <a:r>
              <a:rPr lang="en-US" sz="900" b="0" dirty="0">
                <a:solidFill>
                  <a:srgbClr val="0E1745"/>
                </a:solidFill>
                <a:latin typeface="Carlito" pitchFamily="34" charset="0"/>
                <a:ea typeface="Carlito" pitchFamily="34" charset="-122"/>
                <a:cs typeface="Carlito" pitchFamily="34" charset="-120"/>
              </a:rPr>
              <a:t>Lorem ipsum dolor sit amet porttitor congue massa magna sed pulvinar.</a:t>
            </a:r>
            <a:endParaRPr lang="en-US" sz="900" dirty="0"/>
          </a:p>
        </p:txBody>
      </p:sp>
      <p:sp>
        <p:nvSpPr>
          <p:cNvPr id="21" name="Shape 16"/>
          <p:cNvSpPr/>
          <p:nvPr/>
        </p:nvSpPr>
        <p:spPr>
          <a:xfrm>
            <a:off x="6358993" y="2124074"/>
            <a:ext cx="2057535" cy="287291"/>
          </a:xfrm>
          <a:prstGeom prst="roundRect">
            <a:avLst>
              <a:gd name="adj" fmla="val -318284"/>
            </a:avLst>
          </a:prstGeom>
          <a:solidFill>
            <a:srgbClr val="FFFFFF">
              <a:alpha val="0"/>
            </a:srgbClr>
          </a:solidFill>
          <a:ln/>
        </p:spPr>
      </p:sp>
      <p:sp>
        <p:nvSpPr>
          <p:cNvPr id="22" name="Text 17"/>
          <p:cNvSpPr/>
          <p:nvPr/>
        </p:nvSpPr>
        <p:spPr>
          <a:xfrm>
            <a:off x="6427573" y="2158364"/>
            <a:ext cx="1988939" cy="198090"/>
          </a:xfrm>
          <a:prstGeom prst="rect">
            <a:avLst/>
          </a:prstGeom>
          <a:noFill/>
          <a:ln/>
        </p:spPr>
        <p:txBody>
          <a:bodyPr wrap="square" lIns="0" tIns="0" rIns="0" bIns="0" rtlCol="0" anchor="t"/>
          <a:lstStyle/>
          <a:p>
            <a:pPr algn="l">
              <a:lnSpc>
                <a:spcPts val="1560"/>
              </a:lnSpc>
            </a:pPr>
            <a:r>
              <a:rPr lang="en-US" sz="1200" b="1" dirty="0">
                <a:solidFill>
                  <a:srgbClr val="0E1745"/>
                </a:solidFill>
                <a:latin typeface="Figtree" pitchFamily="34" charset="0"/>
                <a:ea typeface="Figtree" pitchFamily="34" charset="-122"/>
                <a:cs typeface="Figtree" pitchFamily="34" charset="-120"/>
              </a:rPr>
              <a:t>Human-Centered</a:t>
            </a:r>
            <a:endParaRPr lang="en-US" sz="1200" dirty="0"/>
          </a:p>
        </p:txBody>
      </p:sp>
      <p:sp>
        <p:nvSpPr>
          <p:cNvPr id="23" name="Shape 18"/>
          <p:cNvSpPr/>
          <p:nvPr/>
        </p:nvSpPr>
        <p:spPr>
          <a:xfrm>
            <a:off x="521494" y="519113"/>
            <a:ext cx="5837499" cy="1066446"/>
          </a:xfrm>
          <a:prstGeom prst="roundRect">
            <a:avLst>
              <a:gd name="adj" fmla="val -85743"/>
            </a:avLst>
          </a:prstGeom>
          <a:solidFill>
            <a:srgbClr val="FFFFFF">
              <a:alpha val="0"/>
            </a:srgbClr>
          </a:solidFill>
          <a:ln/>
        </p:spPr>
      </p:sp>
      <p:sp>
        <p:nvSpPr>
          <p:cNvPr id="24" name="Text 19"/>
          <p:cNvSpPr/>
          <p:nvPr/>
        </p:nvSpPr>
        <p:spPr>
          <a:xfrm>
            <a:off x="590074" y="553403"/>
            <a:ext cx="5768913" cy="411473"/>
          </a:xfrm>
          <a:prstGeom prst="rect">
            <a:avLst/>
          </a:prstGeom>
          <a:noFill/>
          <a:ln/>
        </p:spPr>
        <p:txBody>
          <a:bodyPr wrap="square" lIns="0" tIns="0" rIns="0" bIns="0" rtlCol="0" anchor="t"/>
          <a:lstStyle/>
          <a:p>
            <a:pPr algn="l">
              <a:lnSpc>
                <a:spcPts val="3240"/>
              </a:lnSpc>
            </a:pPr>
            <a:r>
              <a:rPr lang="en-US" sz="3600" b="0" dirty="0">
                <a:solidFill>
                  <a:srgbClr val="0E1745"/>
                </a:solidFill>
                <a:latin typeface="Glitz" pitchFamily="34" charset="0"/>
                <a:ea typeface="Glitz" pitchFamily="34" charset="-122"/>
                <a:cs typeface="Glitz" pitchFamily="34" charset="-120"/>
              </a:rPr>
              <a:t>Shaping the Next Digital Era</a:t>
            </a:r>
            <a:endParaRPr lang="en-US" sz="3600" dirty="0"/>
          </a:p>
        </p:txBody>
      </p:sp>
      <p:sp>
        <p:nvSpPr>
          <p:cNvPr id="25" name="Text 20"/>
          <p:cNvSpPr/>
          <p:nvPr/>
        </p:nvSpPr>
        <p:spPr>
          <a:xfrm>
            <a:off x="7351051" y="1304161"/>
            <a:ext cx="990469" cy="279532"/>
          </a:xfrm>
          <a:prstGeom prst="roundRect">
            <a:avLst>
              <a:gd name="adj" fmla="val 81780"/>
            </a:avLst>
          </a:prstGeom>
          <a:solidFill>
            <a:srgbClr val="000DFF"/>
          </a:solidFill>
          <a:ln/>
        </p:spPr>
        <p:txBody>
          <a:bodyPr wrap="square" lIns="55026" tIns="33000" rIns="55026" bIns="33000" rtlCol="0" anchor="ctr"/>
          <a:lstStyle/>
          <a:p>
            <a:pPr algn="ctr">
              <a:lnSpc>
                <a:spcPts val="1080"/>
              </a:lnSpc>
            </a:pPr>
            <a:r>
              <a:rPr lang="en-US" sz="1200" b="1" dirty="0">
                <a:solidFill>
                  <a:srgbClr val="FFFFFF"/>
                </a:solidFill>
                <a:latin typeface="Figtree" pitchFamily="34" charset="0"/>
                <a:ea typeface="Figtree" pitchFamily="34" charset="-122"/>
                <a:cs typeface="Figtree" pitchFamily="34" charset="-120"/>
              </a:rPr>
              <a:t>We Shift</a:t>
            </a:r>
            <a:endParaRPr lang="en-US" sz="1200" dirty="0"/>
          </a:p>
        </p:txBody>
      </p:sp>
      <p:pic>
        <p:nvPicPr>
          <p:cNvPr id="26" name="Image 2" descr="https://pitch-assets-ccb95893-de3f-4266-973c-20049231b248.s3.eu-west-1.amazonaws.com/070a3f31-3010-40ec-96e1-16c157a68cb9?pitch-bytes=875&amp;pitch-content-type=image%2Fsvg%2Bxml">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rot="16200000">
            <a:off x="8387974" y="1324843"/>
            <a:ext cx="237779" cy="237779"/>
          </a:xfrm>
          <a:prstGeom prst="rect">
            <a:avLst/>
          </a:prstGeom>
        </p:spPr>
      </p:pic>
      <p:sp>
        <p:nvSpPr>
          <p:cNvPr id="27" name="Text 21"/>
          <p:cNvSpPr/>
          <p:nvPr/>
        </p:nvSpPr>
        <p:spPr>
          <a:xfrm>
            <a:off x="709845" y="227814"/>
            <a:ext cx="657374" cy="85725"/>
          </a:xfrm>
          <a:prstGeom prst="rect">
            <a:avLst/>
          </a:prstGeom>
          <a:noFill/>
          <a:ln/>
        </p:spPr>
        <p:txBody>
          <a:bodyPr wrap="square" lIns="0" tIns="0" rIns="0" bIns="0" rtlCol="0" anchor="ctr"/>
          <a:lstStyle/>
          <a:p>
            <a:pPr algn="l">
              <a:lnSpc>
                <a:spcPts val="675"/>
              </a:lnSpc>
            </a:pPr>
            <a:r>
              <a:rPr lang="en-US" sz="700" b="0" dirty="0">
                <a:solidFill>
                  <a:srgbClr val="262626"/>
                </a:solidFill>
                <a:latin typeface="Carlito" pitchFamily="34" charset="0"/>
                <a:ea typeface="Carlito" pitchFamily="34" charset="-122"/>
                <a:cs typeface="Carlito" pitchFamily="34" charset="-120"/>
              </a:rPr>
              <a:t>Shift Porter Novelli</a:t>
            </a:r>
            <a:endParaRPr lang="en-US" sz="675" dirty="0"/>
          </a:p>
        </p:txBody>
      </p:sp>
      <p:sp>
        <p:nvSpPr>
          <p:cNvPr id="28" name="Text 22"/>
          <p:cNvSpPr/>
          <p:nvPr/>
        </p:nvSpPr>
        <p:spPr>
          <a:xfrm>
            <a:off x="7301247" y="239791"/>
            <a:ext cx="1481435" cy="85725"/>
          </a:xfrm>
          <a:prstGeom prst="rect">
            <a:avLst/>
          </a:prstGeom>
          <a:noFill/>
          <a:ln/>
        </p:spPr>
        <p:txBody>
          <a:bodyPr wrap="square" lIns="0" tIns="0" rIns="0" bIns="0" rtlCol="0" anchor="ctr"/>
          <a:lstStyle/>
          <a:p>
            <a:pPr algn="r">
              <a:lnSpc>
                <a:spcPts val="675"/>
              </a:lnSpc>
            </a:pPr>
            <a:r>
              <a:rPr lang="en-US" sz="700" b="0" dirty="0">
                <a:solidFill>
                  <a:srgbClr val="262626"/>
                </a:solidFill>
                <a:latin typeface="Carlito" pitchFamily="34" charset="0"/>
                <a:ea typeface="Carlito" pitchFamily="34" charset="-122"/>
                <a:cs typeface="Carlito" pitchFamily="34" charset="-120"/>
              </a:rPr>
              <a:t>Pitch 2026</a:t>
            </a:r>
            <a:endParaRPr lang="en-US" sz="675" dirty="0"/>
          </a:p>
        </p:txBody>
      </p:sp>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0FE"/>
        </a:solidFill>
      </p:bgPr>
    </p:bg>
    <p:spTree>
      <p:nvGrpSpPr>
        <p:cNvPr id="1" name=""/>
        <p:cNvGrpSpPr/>
        <p:nvPr/>
      </p:nvGrpSpPr>
      <p:grpSpPr>
        <a:xfrm>
          <a:off x="0" y="0"/>
          <a:ext cx="0" cy="0"/>
          <a:chOff x="0" y="0"/>
          <a:chExt cx="0" cy="0"/>
        </a:xfrm>
      </p:grpSpPr>
      <p:sp>
        <p:nvSpPr>
          <p:cNvPr id="3" name="Text 0"/>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4" name="Text 1"/>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5" name="Text 2"/>
          <p:cNvSpPr/>
          <p:nvPr/>
        </p:nvSpPr>
        <p:spPr>
          <a:xfrm>
            <a:off x="4572000" y="519113"/>
            <a:ext cx="4050506" cy="4105275"/>
          </a:xfrm>
          <a:prstGeom prst="roundRect">
            <a:avLst>
              <a:gd name="adj" fmla="val -22575"/>
            </a:avLst>
          </a:prstGeom>
          <a:gradFill>
            <a:gsLst>
              <a:gs pos="0">
                <a:srgbClr val="EDF0FE">
                  <a:alpha val="0"/>
                </a:srgbClr>
              </a:gs>
              <a:gs pos="100000">
                <a:srgbClr val="F540FF">
                  <a:alpha val="0"/>
                </a:srgbClr>
              </a:gs>
            </a:gsLst>
            <a:lin ang="5400000"/>
          </a:gradFill>
          <a:ln/>
        </p:spPr>
        <p:txBody>
          <a:bodyPr wrap="square" lIns="225028" tIns="484651" rIns="225028" bIns="484651" rtlCol="0" anchor="ctr"/>
          <a:lstStyle/>
          <a:p>
            <a:pPr algn="ctr">
              <a:lnSpc>
                <a:spcPts val="3240"/>
              </a:lnSpc>
            </a:pPr>
            <a:endParaRPr lang="en-US" sz="3600" dirty="0"/>
          </a:p>
        </p:txBody>
      </p:sp>
      <p:sp>
        <p:nvSpPr>
          <p:cNvPr id="6" name="Shape 3"/>
          <p:cNvSpPr/>
          <p:nvPr/>
        </p:nvSpPr>
        <p:spPr>
          <a:xfrm>
            <a:off x="521494" y="519113"/>
            <a:ext cx="3631406" cy="1066446"/>
          </a:xfrm>
          <a:prstGeom prst="roundRect">
            <a:avLst>
              <a:gd name="adj" fmla="val -85743"/>
            </a:avLst>
          </a:prstGeom>
          <a:solidFill>
            <a:srgbClr val="FFFFFF">
              <a:alpha val="0"/>
            </a:srgbClr>
          </a:solidFill>
          <a:ln/>
        </p:spPr>
      </p:sp>
      <p:sp>
        <p:nvSpPr>
          <p:cNvPr id="7" name="Text 4"/>
          <p:cNvSpPr/>
          <p:nvPr/>
        </p:nvSpPr>
        <p:spPr>
          <a:xfrm>
            <a:off x="590074" y="553403"/>
            <a:ext cx="3562796" cy="822945"/>
          </a:xfrm>
          <a:prstGeom prst="rect">
            <a:avLst/>
          </a:prstGeom>
          <a:noFill/>
          <a:ln/>
        </p:spPr>
        <p:txBody>
          <a:bodyPr wrap="square" lIns="0" tIns="0" rIns="0" bIns="0" rtlCol="0" anchor="t"/>
          <a:lstStyle/>
          <a:p>
            <a:pPr algn="l">
              <a:lnSpc>
                <a:spcPts val="3240"/>
              </a:lnSpc>
            </a:pPr>
            <a:r>
              <a:rPr lang="en-US" sz="3600" b="0" dirty="0">
                <a:solidFill>
                  <a:srgbClr val="0E1745"/>
                </a:solidFill>
                <a:latin typeface="Glitz" pitchFamily="34" charset="0"/>
                <a:ea typeface="Glitz" pitchFamily="34" charset="-122"/>
                <a:cs typeface="Glitz" pitchFamily="34" charset="-120"/>
              </a:rPr>
              <a:t>Future-Ready by Design</a:t>
            </a:r>
            <a:endParaRPr lang="en-US" sz="3600" dirty="0"/>
          </a:p>
        </p:txBody>
      </p:sp>
      <p:sp>
        <p:nvSpPr>
          <p:cNvPr id="8" name="Text 5"/>
          <p:cNvSpPr/>
          <p:nvPr/>
        </p:nvSpPr>
        <p:spPr>
          <a:xfrm>
            <a:off x="2546747" y="2000250"/>
            <a:ext cx="2025253" cy="2624138"/>
          </a:xfrm>
          <a:prstGeom prst="roundRect">
            <a:avLst>
              <a:gd name="adj" fmla="val -45150"/>
            </a:avLst>
          </a:prstGeom>
          <a:solidFill>
            <a:srgbClr val="DEE1EE"/>
          </a:solidFill>
          <a:ln/>
        </p:spPr>
        <p:txBody>
          <a:bodyPr wrap="square" lIns="112514" tIns="309794" rIns="112514" bIns="309794" rtlCol="0" anchor="ctr"/>
          <a:lstStyle/>
          <a:p>
            <a:pPr algn="ctr">
              <a:lnSpc>
                <a:spcPts val="3240"/>
              </a:lnSpc>
            </a:pPr>
            <a:endParaRPr lang="en-US" sz="3600" dirty="0"/>
          </a:p>
        </p:txBody>
      </p:sp>
      <p:sp>
        <p:nvSpPr>
          <p:cNvPr id="9" name="Text 6"/>
          <p:cNvSpPr/>
          <p:nvPr/>
        </p:nvSpPr>
        <p:spPr>
          <a:xfrm>
            <a:off x="521494" y="2000250"/>
            <a:ext cx="2025253" cy="2624138"/>
          </a:xfrm>
          <a:prstGeom prst="roundRect">
            <a:avLst>
              <a:gd name="adj" fmla="val -45150"/>
            </a:avLst>
          </a:prstGeom>
          <a:gradFill>
            <a:gsLst>
              <a:gs pos="0">
                <a:srgbClr val="EDF0FE">
                  <a:alpha val="0"/>
                </a:srgbClr>
              </a:gs>
              <a:gs pos="100000">
                <a:srgbClr val="000DFF">
                  <a:alpha val="0"/>
                </a:srgbClr>
              </a:gs>
            </a:gsLst>
            <a:lin ang="5400000"/>
          </a:gradFill>
          <a:ln/>
        </p:spPr>
        <p:txBody>
          <a:bodyPr wrap="square" lIns="112514" tIns="309794" rIns="112514" bIns="309794" rtlCol="0" anchor="ctr"/>
          <a:lstStyle/>
          <a:p>
            <a:pPr algn="ctr">
              <a:lnSpc>
                <a:spcPts val="3240"/>
              </a:lnSpc>
            </a:pPr>
            <a:endParaRPr lang="en-US" sz="3600" dirty="0"/>
          </a:p>
        </p:txBody>
      </p:sp>
      <p:sp>
        <p:nvSpPr>
          <p:cNvPr id="10" name="Shape 7"/>
          <p:cNvSpPr/>
          <p:nvPr/>
        </p:nvSpPr>
        <p:spPr>
          <a:xfrm>
            <a:off x="4790087" y="4073228"/>
            <a:ext cx="3644301" cy="414778"/>
          </a:xfrm>
          <a:prstGeom prst="roundRect">
            <a:avLst>
              <a:gd name="adj" fmla="val -220455"/>
            </a:avLst>
          </a:prstGeom>
          <a:solidFill>
            <a:srgbClr val="FFFFFF">
              <a:alpha val="0"/>
            </a:srgbClr>
          </a:solidFill>
          <a:ln/>
        </p:spPr>
      </p:sp>
      <p:sp>
        <p:nvSpPr>
          <p:cNvPr id="11" name="Text 8"/>
          <p:cNvSpPr/>
          <p:nvPr/>
        </p:nvSpPr>
        <p:spPr>
          <a:xfrm>
            <a:off x="4858667" y="4107518"/>
            <a:ext cx="3575707" cy="297135"/>
          </a:xfrm>
          <a:prstGeom prst="rect">
            <a:avLst/>
          </a:prstGeom>
          <a:noFill/>
          <a:ln/>
        </p:spPr>
        <p:txBody>
          <a:bodyPr wrap="square" lIns="0" tIns="0" rIns="0" bIns="0" rtlCol="0" anchor="t"/>
          <a:lstStyle/>
          <a:p>
            <a:pPr algn="l">
              <a:lnSpc>
                <a:spcPts val="1170"/>
              </a:lnSpc>
            </a:pPr>
            <a:r>
              <a:rPr lang="en-US" sz="900" b="0" dirty="0">
                <a:solidFill>
                  <a:srgbClr val="FFFFFF"/>
                </a:solidFill>
                <a:latin typeface="Fira Sans" pitchFamily="34" charset="0"/>
                <a:ea typeface="Fira Sans" pitchFamily="34" charset="-122"/>
                <a:cs typeface="Fira Sans" pitchFamily="34" charset="-120"/>
              </a:rPr>
              <a:t>Lorem ipsum dolor sit amet, consectetuer adipiscing elit porttitor congue massa. Fusce posuere, magna sed pulvinar ultricies.</a:t>
            </a:r>
            <a:endParaRPr lang="en-US" sz="900" dirty="0"/>
          </a:p>
        </p:txBody>
      </p:sp>
      <p:sp>
        <p:nvSpPr>
          <p:cNvPr id="12" name="Shape 9"/>
          <p:cNvSpPr/>
          <p:nvPr/>
        </p:nvSpPr>
        <p:spPr>
          <a:xfrm>
            <a:off x="4790086" y="3747310"/>
            <a:ext cx="3644301" cy="287291"/>
          </a:xfrm>
          <a:prstGeom prst="roundRect">
            <a:avLst>
              <a:gd name="adj" fmla="val -318284"/>
            </a:avLst>
          </a:prstGeom>
          <a:solidFill>
            <a:srgbClr val="FFFFFF">
              <a:alpha val="0"/>
            </a:srgbClr>
          </a:solidFill>
          <a:ln/>
        </p:spPr>
      </p:sp>
      <p:sp>
        <p:nvSpPr>
          <p:cNvPr id="13" name="Text 10"/>
          <p:cNvSpPr/>
          <p:nvPr/>
        </p:nvSpPr>
        <p:spPr>
          <a:xfrm>
            <a:off x="4858666" y="3781600"/>
            <a:ext cx="3575707" cy="198090"/>
          </a:xfrm>
          <a:prstGeom prst="rect">
            <a:avLst/>
          </a:prstGeom>
          <a:noFill/>
          <a:ln/>
        </p:spPr>
        <p:txBody>
          <a:bodyPr wrap="square" lIns="0" tIns="0" rIns="0" bIns="0" rtlCol="0" anchor="t"/>
          <a:lstStyle/>
          <a:p>
            <a:pPr algn="l">
              <a:lnSpc>
                <a:spcPts val="1560"/>
              </a:lnSpc>
            </a:pPr>
            <a:r>
              <a:rPr lang="en-US" sz="1200" b="0" dirty="0">
                <a:solidFill>
                  <a:srgbClr val="FFFFFF"/>
                </a:solidFill>
                <a:latin typeface="Figtree" pitchFamily="34" charset="0"/>
                <a:ea typeface="Figtree" pitchFamily="34" charset="-122"/>
                <a:cs typeface="Figtree" pitchFamily="34" charset="-120"/>
              </a:rPr>
              <a:t>Scalable Architecture</a:t>
            </a:r>
            <a:endParaRPr lang="en-US" sz="1200" dirty="0"/>
          </a:p>
        </p:txBody>
      </p:sp>
      <p:sp>
        <p:nvSpPr>
          <p:cNvPr id="14" name="Shape 11"/>
          <p:cNvSpPr/>
          <p:nvPr/>
        </p:nvSpPr>
        <p:spPr>
          <a:xfrm>
            <a:off x="2756297" y="2128328"/>
            <a:ext cx="1580754" cy="567848"/>
          </a:xfrm>
          <a:prstGeom prst="roundRect">
            <a:avLst>
              <a:gd name="adj" fmla="val -161029"/>
            </a:avLst>
          </a:prstGeom>
          <a:solidFill>
            <a:srgbClr val="FFFFFF">
              <a:alpha val="0"/>
            </a:srgbClr>
          </a:solidFill>
          <a:ln/>
        </p:spPr>
      </p:sp>
      <p:sp>
        <p:nvSpPr>
          <p:cNvPr id="15" name="Text 12"/>
          <p:cNvSpPr/>
          <p:nvPr/>
        </p:nvSpPr>
        <p:spPr>
          <a:xfrm>
            <a:off x="2824877" y="2162618"/>
            <a:ext cx="1512168" cy="411473"/>
          </a:xfrm>
          <a:prstGeom prst="rect">
            <a:avLst/>
          </a:prstGeom>
          <a:noFill/>
          <a:ln/>
        </p:spPr>
        <p:txBody>
          <a:bodyPr wrap="square" lIns="0" tIns="0" rIns="0" bIns="0" rtlCol="0" anchor="t"/>
          <a:lstStyle/>
          <a:p>
            <a:pPr algn="l">
              <a:lnSpc>
                <a:spcPts val="3240"/>
              </a:lnSpc>
            </a:pPr>
            <a:r>
              <a:rPr lang="en-US" sz="3600" b="0" dirty="0">
                <a:solidFill>
                  <a:srgbClr val="0E1745"/>
                </a:solidFill>
                <a:latin typeface="Figtree" pitchFamily="34" charset="0"/>
                <a:ea typeface="Figtree" pitchFamily="34" charset="-122"/>
                <a:cs typeface="Figtree" pitchFamily="34" charset="-120"/>
              </a:rPr>
              <a:t>+35%</a:t>
            </a:r>
            <a:endParaRPr lang="en-US" sz="3600" dirty="0"/>
          </a:p>
        </p:txBody>
      </p:sp>
      <p:sp>
        <p:nvSpPr>
          <p:cNvPr id="16" name="Shape 13"/>
          <p:cNvSpPr/>
          <p:nvPr/>
        </p:nvSpPr>
        <p:spPr>
          <a:xfrm>
            <a:off x="2749850" y="4073228"/>
            <a:ext cx="1580754" cy="414778"/>
          </a:xfrm>
          <a:prstGeom prst="roundRect">
            <a:avLst>
              <a:gd name="adj" fmla="val -220455"/>
            </a:avLst>
          </a:prstGeom>
          <a:solidFill>
            <a:srgbClr val="FFFFFF">
              <a:alpha val="0"/>
            </a:srgbClr>
          </a:solidFill>
          <a:ln/>
        </p:spPr>
      </p:sp>
      <p:sp>
        <p:nvSpPr>
          <p:cNvPr id="17" name="Text 14"/>
          <p:cNvSpPr/>
          <p:nvPr/>
        </p:nvSpPr>
        <p:spPr>
          <a:xfrm>
            <a:off x="2818430" y="4107518"/>
            <a:ext cx="1512168" cy="297135"/>
          </a:xfrm>
          <a:prstGeom prst="rect">
            <a:avLst/>
          </a:prstGeom>
          <a:noFill/>
          <a:ln/>
        </p:spPr>
        <p:txBody>
          <a:bodyPr wrap="square" lIns="0" tIns="0" rIns="0" bIns="0" rtlCol="0" anchor="t"/>
          <a:lstStyle/>
          <a:p>
            <a:pPr algn="l">
              <a:lnSpc>
                <a:spcPts val="1170"/>
              </a:lnSpc>
            </a:pPr>
            <a:r>
              <a:rPr lang="en-US" sz="900" b="0" dirty="0">
                <a:solidFill>
                  <a:srgbClr val="0E1745"/>
                </a:solidFill>
                <a:latin typeface="Fira Sans" pitchFamily="34" charset="0"/>
                <a:ea typeface="Fira Sans" pitchFamily="34" charset="-122"/>
                <a:cs typeface="Fira Sans" pitchFamily="34" charset="-120"/>
              </a:rPr>
              <a:t>Lorem ipsum dolor sit amet, elit massa magna sed. </a:t>
            </a:r>
            <a:endParaRPr lang="en-US" sz="900" dirty="0"/>
          </a:p>
        </p:txBody>
      </p:sp>
      <p:sp>
        <p:nvSpPr>
          <p:cNvPr id="18" name="Shape 15"/>
          <p:cNvSpPr/>
          <p:nvPr/>
        </p:nvSpPr>
        <p:spPr>
          <a:xfrm>
            <a:off x="2749849" y="3747310"/>
            <a:ext cx="1580754" cy="287291"/>
          </a:xfrm>
          <a:prstGeom prst="roundRect">
            <a:avLst>
              <a:gd name="adj" fmla="val -318284"/>
            </a:avLst>
          </a:prstGeom>
          <a:solidFill>
            <a:srgbClr val="FFFFFF">
              <a:alpha val="0"/>
            </a:srgbClr>
          </a:solidFill>
          <a:ln/>
        </p:spPr>
      </p:sp>
      <p:sp>
        <p:nvSpPr>
          <p:cNvPr id="19" name="Text 16"/>
          <p:cNvSpPr/>
          <p:nvPr/>
        </p:nvSpPr>
        <p:spPr>
          <a:xfrm>
            <a:off x="2818429" y="3781600"/>
            <a:ext cx="1512168" cy="198090"/>
          </a:xfrm>
          <a:prstGeom prst="rect">
            <a:avLst/>
          </a:prstGeom>
          <a:noFill/>
          <a:ln/>
        </p:spPr>
        <p:txBody>
          <a:bodyPr wrap="square" lIns="0" tIns="0" rIns="0" bIns="0" rtlCol="0" anchor="t"/>
          <a:lstStyle/>
          <a:p>
            <a:pPr algn="l">
              <a:lnSpc>
                <a:spcPts val="1560"/>
              </a:lnSpc>
            </a:pPr>
            <a:r>
              <a:rPr lang="en-US" sz="1200" b="0" dirty="0">
                <a:solidFill>
                  <a:srgbClr val="0E1745"/>
                </a:solidFill>
                <a:latin typeface="Figtree" pitchFamily="34" charset="0"/>
                <a:ea typeface="Figtree" pitchFamily="34" charset="-122"/>
                <a:cs typeface="Figtree" pitchFamily="34" charset="-120"/>
              </a:rPr>
              <a:t>Secure by Design</a:t>
            </a:r>
            <a:endParaRPr lang="en-US" sz="1200" dirty="0"/>
          </a:p>
        </p:txBody>
      </p:sp>
      <p:sp>
        <p:nvSpPr>
          <p:cNvPr id="20" name="Shape 17"/>
          <p:cNvSpPr/>
          <p:nvPr/>
        </p:nvSpPr>
        <p:spPr>
          <a:xfrm>
            <a:off x="724597" y="4073228"/>
            <a:ext cx="1580754" cy="414778"/>
          </a:xfrm>
          <a:prstGeom prst="roundRect">
            <a:avLst>
              <a:gd name="adj" fmla="val -220455"/>
            </a:avLst>
          </a:prstGeom>
          <a:solidFill>
            <a:srgbClr val="FFFFFF">
              <a:alpha val="0"/>
            </a:srgbClr>
          </a:solidFill>
          <a:ln/>
        </p:spPr>
      </p:sp>
      <p:sp>
        <p:nvSpPr>
          <p:cNvPr id="21" name="Text 18"/>
          <p:cNvSpPr/>
          <p:nvPr/>
        </p:nvSpPr>
        <p:spPr>
          <a:xfrm>
            <a:off x="793177" y="4107518"/>
            <a:ext cx="1512168" cy="297135"/>
          </a:xfrm>
          <a:prstGeom prst="rect">
            <a:avLst/>
          </a:prstGeom>
          <a:noFill/>
          <a:ln/>
        </p:spPr>
        <p:txBody>
          <a:bodyPr wrap="square" lIns="0" tIns="0" rIns="0" bIns="0" rtlCol="0" anchor="t"/>
          <a:lstStyle/>
          <a:p>
            <a:pPr algn="l">
              <a:lnSpc>
                <a:spcPts val="1170"/>
              </a:lnSpc>
            </a:pPr>
            <a:r>
              <a:rPr lang="en-US" sz="900" b="0" dirty="0">
                <a:solidFill>
                  <a:srgbClr val="FFFFFF"/>
                </a:solidFill>
                <a:latin typeface="Fira Sans" pitchFamily="34" charset="0"/>
                <a:ea typeface="Fira Sans" pitchFamily="34" charset="-122"/>
                <a:cs typeface="Fira Sans" pitchFamily="34" charset="-120"/>
              </a:rPr>
              <a:t>Lorem ipsum dolor sit amet, elit massa magna sed. </a:t>
            </a:r>
            <a:endParaRPr lang="en-US" sz="900" dirty="0"/>
          </a:p>
        </p:txBody>
      </p:sp>
      <p:sp>
        <p:nvSpPr>
          <p:cNvPr id="22" name="Shape 19"/>
          <p:cNvSpPr/>
          <p:nvPr/>
        </p:nvSpPr>
        <p:spPr>
          <a:xfrm>
            <a:off x="724596" y="3747310"/>
            <a:ext cx="1580754" cy="287291"/>
          </a:xfrm>
          <a:prstGeom prst="roundRect">
            <a:avLst>
              <a:gd name="adj" fmla="val -318284"/>
            </a:avLst>
          </a:prstGeom>
          <a:solidFill>
            <a:srgbClr val="FFFFFF">
              <a:alpha val="0"/>
            </a:srgbClr>
          </a:solidFill>
          <a:ln/>
        </p:spPr>
      </p:sp>
      <p:sp>
        <p:nvSpPr>
          <p:cNvPr id="23" name="Text 20"/>
          <p:cNvSpPr/>
          <p:nvPr/>
        </p:nvSpPr>
        <p:spPr>
          <a:xfrm>
            <a:off x="793176" y="3781600"/>
            <a:ext cx="1512168" cy="198090"/>
          </a:xfrm>
          <a:prstGeom prst="rect">
            <a:avLst/>
          </a:prstGeom>
          <a:noFill/>
          <a:ln/>
        </p:spPr>
        <p:txBody>
          <a:bodyPr wrap="square" lIns="0" tIns="0" rIns="0" bIns="0" rtlCol="0" anchor="t"/>
          <a:lstStyle/>
          <a:p>
            <a:pPr algn="l">
              <a:lnSpc>
                <a:spcPts val="1560"/>
              </a:lnSpc>
            </a:pPr>
            <a:r>
              <a:rPr lang="en-US" sz="1200" b="0" dirty="0">
                <a:solidFill>
                  <a:srgbClr val="FFFFFF"/>
                </a:solidFill>
                <a:latin typeface="Figtree" pitchFamily="34" charset="0"/>
                <a:ea typeface="Figtree" pitchFamily="34" charset="-122"/>
                <a:cs typeface="Figtree" pitchFamily="34" charset="-120"/>
              </a:rPr>
              <a:t>Fast Deployment</a:t>
            </a:r>
            <a:endParaRPr lang="en-US" sz="1200" dirty="0"/>
          </a:p>
        </p:txBody>
      </p:sp>
      <p:sp>
        <p:nvSpPr>
          <p:cNvPr id="24" name="Text 21"/>
          <p:cNvSpPr/>
          <p:nvPr/>
        </p:nvSpPr>
        <p:spPr>
          <a:xfrm>
            <a:off x="709845" y="227814"/>
            <a:ext cx="657374" cy="85725"/>
          </a:xfrm>
          <a:prstGeom prst="rect">
            <a:avLst/>
          </a:prstGeom>
          <a:noFill/>
          <a:ln/>
        </p:spPr>
        <p:txBody>
          <a:bodyPr wrap="square" lIns="0" tIns="0" rIns="0" bIns="0" rtlCol="0" anchor="ctr"/>
          <a:lstStyle/>
          <a:p>
            <a:pPr algn="l">
              <a:lnSpc>
                <a:spcPts val="675"/>
              </a:lnSpc>
            </a:pPr>
            <a:r>
              <a:rPr lang="en-US" sz="700" b="0" dirty="0">
                <a:solidFill>
                  <a:srgbClr val="262626"/>
                </a:solidFill>
                <a:latin typeface="Carlito" pitchFamily="34" charset="0"/>
                <a:ea typeface="Carlito" pitchFamily="34" charset="-122"/>
                <a:cs typeface="Carlito" pitchFamily="34" charset="-120"/>
              </a:rPr>
              <a:t>Shift Porter Novelli</a:t>
            </a:r>
            <a:endParaRPr lang="en-US" sz="675" dirty="0"/>
          </a:p>
        </p:txBody>
      </p:sp>
      <p:sp>
        <p:nvSpPr>
          <p:cNvPr id="25" name="Text 22"/>
          <p:cNvSpPr/>
          <p:nvPr/>
        </p:nvSpPr>
        <p:spPr>
          <a:xfrm>
            <a:off x="7301247" y="239791"/>
            <a:ext cx="1481435" cy="85725"/>
          </a:xfrm>
          <a:prstGeom prst="rect">
            <a:avLst/>
          </a:prstGeom>
          <a:noFill/>
          <a:ln/>
        </p:spPr>
        <p:txBody>
          <a:bodyPr wrap="square" lIns="0" tIns="0" rIns="0" bIns="0" rtlCol="0" anchor="ctr"/>
          <a:lstStyle/>
          <a:p>
            <a:pPr algn="r">
              <a:lnSpc>
                <a:spcPts val="675"/>
              </a:lnSpc>
            </a:pPr>
            <a:r>
              <a:rPr lang="en-US" sz="700" b="0" dirty="0">
                <a:solidFill>
                  <a:srgbClr val="262626"/>
                </a:solidFill>
                <a:latin typeface="Carlito" pitchFamily="34" charset="0"/>
                <a:ea typeface="Carlito" pitchFamily="34" charset="-122"/>
                <a:cs typeface="Carlito" pitchFamily="34" charset="-120"/>
              </a:rPr>
              <a:t>Pitch 2026</a:t>
            </a:r>
            <a:endParaRPr lang="en-US" sz="675" dirty="0"/>
          </a:p>
        </p:txBody>
      </p:sp>
      <p:sp>
        <p:nvSpPr>
          <p:cNvPr id="26" name="Text 23"/>
          <p:cNvSpPr/>
          <p:nvPr/>
        </p:nvSpPr>
        <p:spPr>
          <a:xfrm>
            <a:off x="4789131" y="964902"/>
            <a:ext cx="1512168" cy="411473"/>
          </a:xfrm>
          <a:prstGeom prst="rect">
            <a:avLst/>
          </a:prstGeom>
          <a:noFill/>
          <a:ln/>
        </p:spPr>
        <p:txBody>
          <a:bodyPr wrap="square" lIns="0" tIns="0" rIns="0" bIns="0" rtlCol="0" anchor="t"/>
          <a:lstStyle/>
          <a:p>
            <a:pPr algn="l">
              <a:lnSpc>
                <a:spcPts val="3240"/>
              </a:lnSpc>
            </a:pPr>
            <a:r>
              <a:rPr lang="en-US" sz="3600" b="0" dirty="0">
                <a:solidFill>
                  <a:srgbClr val="0E1745"/>
                </a:solidFill>
                <a:latin typeface="Figtree" pitchFamily="34" charset="0"/>
                <a:ea typeface="Figtree" pitchFamily="34" charset="-122"/>
                <a:cs typeface="Figtree" pitchFamily="34" charset="-120"/>
              </a:rPr>
              <a:t>+85%</a:t>
            </a:r>
            <a:endParaRPr lang="en-US" sz="3600" dirty="0"/>
          </a:p>
        </p:txBody>
      </p:sp>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0FE"/>
        </a:solidFill>
      </p:bgPr>
    </p:bg>
    <p:spTree>
      <p:nvGrpSpPr>
        <p:cNvPr id="1" name=""/>
        <p:cNvGrpSpPr/>
        <p:nvPr/>
      </p:nvGrpSpPr>
      <p:grpSpPr>
        <a:xfrm>
          <a:off x="0" y="0"/>
          <a:ext cx="0" cy="0"/>
          <a:chOff x="0" y="0"/>
          <a:chExt cx="0" cy="0"/>
        </a:xfrm>
      </p:grpSpPr>
      <p:sp>
        <p:nvSpPr>
          <p:cNvPr id="3" name="Text 0"/>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4" name="Text 1"/>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5" name="Text 2"/>
          <p:cNvSpPr/>
          <p:nvPr/>
        </p:nvSpPr>
        <p:spPr>
          <a:xfrm>
            <a:off x="3456587" y="928687"/>
            <a:ext cx="2230827" cy="2230827"/>
          </a:xfrm>
          <a:prstGeom prst="ellipse">
            <a:avLst/>
          </a:prstGeom>
          <a:gradFill>
            <a:gsLst>
              <a:gs pos="0">
                <a:srgbClr val="EDF0FE">
                  <a:alpha val="0"/>
                </a:srgbClr>
              </a:gs>
              <a:gs pos="100000">
                <a:srgbClr val="BD5CFF">
                  <a:alpha val="0"/>
                </a:srgbClr>
              </a:gs>
            </a:gsLst>
            <a:lin ang="5400000"/>
          </a:gradFill>
          <a:ln/>
        </p:spPr>
        <p:txBody>
          <a:bodyPr wrap="square" lIns="123935" tIns="263362" rIns="123935" bIns="263362" rtlCol="0" anchor="ctr"/>
          <a:lstStyle/>
          <a:p>
            <a:pPr algn="ctr">
              <a:lnSpc>
                <a:spcPts val="3240"/>
              </a:lnSpc>
            </a:pPr>
            <a:endParaRPr lang="en-US" sz="3600" dirty="0"/>
          </a:p>
        </p:txBody>
      </p:sp>
      <p:sp>
        <p:nvSpPr>
          <p:cNvPr id="6" name="Shape 3"/>
          <p:cNvSpPr/>
          <p:nvPr/>
        </p:nvSpPr>
        <p:spPr>
          <a:xfrm>
            <a:off x="3693619" y="1900456"/>
            <a:ext cx="1756763" cy="287291"/>
          </a:xfrm>
          <a:prstGeom prst="roundRect">
            <a:avLst>
              <a:gd name="adj" fmla="val -318284"/>
            </a:avLst>
          </a:prstGeom>
          <a:solidFill>
            <a:srgbClr val="FFFFFF">
              <a:alpha val="0"/>
            </a:srgbClr>
          </a:solidFill>
          <a:ln/>
        </p:spPr>
      </p:sp>
      <p:sp>
        <p:nvSpPr>
          <p:cNvPr id="7" name="Text 4"/>
          <p:cNvSpPr/>
          <p:nvPr/>
        </p:nvSpPr>
        <p:spPr>
          <a:xfrm>
            <a:off x="3762212" y="1934746"/>
            <a:ext cx="1688157" cy="198090"/>
          </a:xfrm>
          <a:prstGeom prst="rect">
            <a:avLst/>
          </a:prstGeom>
          <a:noFill/>
          <a:ln/>
        </p:spPr>
        <p:txBody>
          <a:bodyPr wrap="square" lIns="0" tIns="0" rIns="0" bIns="0" rtlCol="0" anchor="t"/>
          <a:lstStyle/>
          <a:p>
            <a:pPr algn="ctr">
              <a:lnSpc>
                <a:spcPts val="1560"/>
              </a:lnSpc>
            </a:pPr>
            <a:r>
              <a:rPr lang="en-US" sz="1200" b="1" dirty="0">
                <a:solidFill>
                  <a:srgbClr val="0E1745"/>
                </a:solidFill>
                <a:latin typeface="Figtree" pitchFamily="34" charset="0"/>
                <a:ea typeface="Figtree" pitchFamily="34" charset="-122"/>
                <a:cs typeface="Figtree" pitchFamily="34" charset="-120"/>
              </a:rPr>
              <a:t>Ideate Boldly</a:t>
            </a:r>
            <a:endParaRPr lang="en-US" sz="1200" dirty="0"/>
          </a:p>
        </p:txBody>
      </p:sp>
      <p:sp>
        <p:nvSpPr>
          <p:cNvPr id="8" name="Shape 5"/>
          <p:cNvSpPr/>
          <p:nvPr/>
        </p:nvSpPr>
        <p:spPr>
          <a:xfrm>
            <a:off x="5884646" y="1066298"/>
            <a:ext cx="2564606" cy="594827"/>
          </a:xfrm>
          <a:prstGeom prst="roundRect">
            <a:avLst>
              <a:gd name="adj" fmla="val -153725"/>
            </a:avLst>
          </a:prstGeom>
          <a:solidFill>
            <a:srgbClr val="FFFFFF">
              <a:alpha val="0"/>
            </a:srgbClr>
          </a:solidFill>
          <a:ln/>
        </p:spPr>
      </p:sp>
      <p:sp>
        <p:nvSpPr>
          <p:cNvPr id="9" name="Text 6"/>
          <p:cNvSpPr/>
          <p:nvPr/>
        </p:nvSpPr>
        <p:spPr>
          <a:xfrm>
            <a:off x="5953226" y="1100588"/>
            <a:ext cx="2495996" cy="445703"/>
          </a:xfrm>
          <a:prstGeom prst="rect">
            <a:avLst/>
          </a:prstGeom>
          <a:noFill/>
          <a:ln/>
        </p:spPr>
        <p:txBody>
          <a:bodyPr wrap="square" lIns="0" tIns="0" rIns="0" bIns="0" rtlCol="0" anchor="t"/>
          <a:lstStyle/>
          <a:p>
            <a:pPr algn="l">
              <a:lnSpc>
                <a:spcPts val="1170"/>
              </a:lnSpc>
              <a:spcAft>
                <a:spcPts val="1800"/>
              </a:spcAft>
            </a:pPr>
            <a:r>
              <a:rPr lang="en-US" sz="900" b="0" dirty="0">
                <a:solidFill>
                  <a:srgbClr val="0D0D0D"/>
                </a:solidFill>
                <a:latin typeface="Fira Sans" pitchFamily="34" charset="0"/>
                <a:ea typeface="Fira Sans" pitchFamily="34" charset="-122"/>
                <a:cs typeface="Fira Sans" pitchFamily="34" charset="-120"/>
              </a:rPr>
              <a:t>Lorem ipsum dolor sit amet, consectetuer adipiscing elit. Maecenas porttitor congue massa posuere, magna sed pulvinar.</a:t>
            </a:r>
            <a:endParaRPr lang="en-US" sz="900" dirty="0"/>
          </a:p>
        </p:txBody>
      </p:sp>
      <p:sp>
        <p:nvSpPr>
          <p:cNvPr id="10" name="Shape 7"/>
          <p:cNvSpPr/>
          <p:nvPr/>
        </p:nvSpPr>
        <p:spPr>
          <a:xfrm>
            <a:off x="521494" y="519113"/>
            <a:ext cx="2698061" cy="1066446"/>
          </a:xfrm>
          <a:prstGeom prst="roundRect">
            <a:avLst>
              <a:gd name="adj" fmla="val -85743"/>
            </a:avLst>
          </a:prstGeom>
          <a:solidFill>
            <a:srgbClr val="FFFFFF">
              <a:alpha val="0"/>
            </a:srgbClr>
          </a:solidFill>
          <a:ln/>
        </p:spPr>
      </p:sp>
      <p:sp>
        <p:nvSpPr>
          <p:cNvPr id="11" name="Text 8"/>
          <p:cNvSpPr/>
          <p:nvPr/>
        </p:nvSpPr>
        <p:spPr>
          <a:xfrm>
            <a:off x="590074" y="553403"/>
            <a:ext cx="2629458" cy="822945"/>
          </a:xfrm>
          <a:prstGeom prst="rect">
            <a:avLst/>
          </a:prstGeom>
          <a:noFill/>
          <a:ln/>
        </p:spPr>
        <p:txBody>
          <a:bodyPr wrap="square" lIns="0" tIns="0" rIns="0" bIns="0" rtlCol="0" anchor="t"/>
          <a:lstStyle/>
          <a:p>
            <a:pPr algn="l">
              <a:lnSpc>
                <a:spcPts val="3240"/>
              </a:lnSpc>
            </a:pPr>
            <a:r>
              <a:rPr lang="en-US" sz="3600" b="0" dirty="0">
                <a:solidFill>
                  <a:srgbClr val="0E1745"/>
                </a:solidFill>
                <a:latin typeface="Glitz" pitchFamily="34" charset="0"/>
                <a:ea typeface="Glitz" pitchFamily="34" charset="-122"/>
                <a:cs typeface="Glitz" pitchFamily="34" charset="-120"/>
              </a:rPr>
              <a:t>Shift Workflow</a:t>
            </a:r>
            <a:endParaRPr lang="en-US" sz="3600" dirty="0"/>
          </a:p>
        </p:txBody>
      </p:sp>
      <p:sp>
        <p:nvSpPr>
          <p:cNvPr id="12" name="Text 9"/>
          <p:cNvSpPr/>
          <p:nvPr/>
        </p:nvSpPr>
        <p:spPr>
          <a:xfrm>
            <a:off x="4259301" y="2298311"/>
            <a:ext cx="2230827" cy="2230827"/>
          </a:xfrm>
          <a:prstGeom prst="ellipse">
            <a:avLst/>
          </a:prstGeom>
          <a:gradFill>
            <a:gsLst>
              <a:gs pos="0">
                <a:srgbClr val="DEE1EE">
                  <a:alpha val="0"/>
                </a:srgbClr>
              </a:gs>
              <a:gs pos="100000">
                <a:srgbClr val="F540FF">
                  <a:alpha val="0"/>
                </a:srgbClr>
              </a:gs>
            </a:gsLst>
            <a:lin ang="10800000"/>
          </a:gradFill>
          <a:ln/>
        </p:spPr>
        <p:txBody>
          <a:bodyPr wrap="square" lIns="123935" tIns="263362" rIns="123935" bIns="263362" rtlCol="0" anchor="ctr"/>
          <a:lstStyle/>
          <a:p>
            <a:pPr algn="ctr">
              <a:lnSpc>
                <a:spcPts val="3240"/>
              </a:lnSpc>
            </a:pPr>
            <a:endParaRPr lang="en-US" sz="3600" dirty="0"/>
          </a:p>
        </p:txBody>
      </p:sp>
      <p:sp>
        <p:nvSpPr>
          <p:cNvPr id="13" name="Shape 10"/>
          <p:cNvSpPr/>
          <p:nvPr/>
        </p:nvSpPr>
        <p:spPr>
          <a:xfrm>
            <a:off x="4496333" y="3365329"/>
            <a:ext cx="1756763" cy="287291"/>
          </a:xfrm>
          <a:prstGeom prst="roundRect">
            <a:avLst>
              <a:gd name="adj" fmla="val -318284"/>
            </a:avLst>
          </a:prstGeom>
          <a:solidFill>
            <a:srgbClr val="FFFFFF">
              <a:alpha val="0"/>
            </a:srgbClr>
          </a:solidFill>
          <a:ln/>
        </p:spPr>
      </p:sp>
      <p:sp>
        <p:nvSpPr>
          <p:cNvPr id="14" name="Text 11"/>
          <p:cNvSpPr/>
          <p:nvPr/>
        </p:nvSpPr>
        <p:spPr>
          <a:xfrm>
            <a:off x="4564926" y="3304369"/>
            <a:ext cx="1688157" cy="198090"/>
          </a:xfrm>
          <a:prstGeom prst="rect">
            <a:avLst/>
          </a:prstGeom>
          <a:noFill/>
          <a:ln/>
        </p:spPr>
        <p:txBody>
          <a:bodyPr wrap="square" lIns="0" tIns="0" rIns="0" bIns="0" rtlCol="0" anchor="t"/>
          <a:lstStyle/>
          <a:p>
            <a:pPr algn="ctr">
              <a:lnSpc>
                <a:spcPts val="1560"/>
              </a:lnSpc>
            </a:pPr>
            <a:r>
              <a:rPr lang="en-US" sz="1200" b="1" dirty="0">
                <a:solidFill>
                  <a:srgbClr val="0E1745"/>
                </a:solidFill>
                <a:latin typeface="Figtree" pitchFamily="34" charset="0"/>
                <a:ea typeface="Figtree" pitchFamily="34" charset="-122"/>
                <a:cs typeface="Figtree" pitchFamily="34" charset="-120"/>
              </a:rPr>
              <a:t>Launch Clean</a:t>
            </a:r>
            <a:endParaRPr lang="en-US" sz="1200" dirty="0"/>
          </a:p>
        </p:txBody>
      </p:sp>
      <p:sp>
        <p:nvSpPr>
          <p:cNvPr id="15" name="Shape 12"/>
          <p:cNvSpPr/>
          <p:nvPr/>
        </p:nvSpPr>
        <p:spPr>
          <a:xfrm>
            <a:off x="6727161" y="3211561"/>
            <a:ext cx="1895346" cy="594826"/>
          </a:xfrm>
          <a:prstGeom prst="roundRect">
            <a:avLst>
              <a:gd name="adj" fmla="val -153726"/>
            </a:avLst>
          </a:prstGeom>
          <a:solidFill>
            <a:srgbClr val="FFFFFF">
              <a:alpha val="0"/>
            </a:srgbClr>
          </a:solidFill>
          <a:ln/>
        </p:spPr>
      </p:sp>
      <p:sp>
        <p:nvSpPr>
          <p:cNvPr id="16" name="Text 13"/>
          <p:cNvSpPr/>
          <p:nvPr/>
        </p:nvSpPr>
        <p:spPr>
          <a:xfrm>
            <a:off x="6795741" y="3245851"/>
            <a:ext cx="1826754" cy="445703"/>
          </a:xfrm>
          <a:prstGeom prst="rect">
            <a:avLst/>
          </a:prstGeom>
          <a:noFill/>
          <a:ln/>
        </p:spPr>
        <p:txBody>
          <a:bodyPr wrap="square" lIns="0" tIns="0" rIns="0" bIns="0" rtlCol="0" anchor="t"/>
          <a:lstStyle/>
          <a:p>
            <a:pPr algn="l">
              <a:lnSpc>
                <a:spcPts val="1170"/>
              </a:lnSpc>
              <a:spcAft>
                <a:spcPts val="1800"/>
              </a:spcAft>
            </a:pPr>
            <a:r>
              <a:rPr lang="en-US" sz="900" b="0" dirty="0">
                <a:solidFill>
                  <a:srgbClr val="0D0D0D"/>
                </a:solidFill>
                <a:latin typeface="Fira Sans" pitchFamily="34" charset="0"/>
                <a:ea typeface="Fira Sans" pitchFamily="34" charset="-122"/>
                <a:cs typeface="Fira Sans" pitchFamily="34" charset="-120"/>
              </a:rPr>
              <a:t>Lorem ipsum dolor sit amet, adipiscing elit porttitor congue massa posuere, magna sed.</a:t>
            </a:r>
            <a:endParaRPr lang="en-US" sz="900" dirty="0"/>
          </a:p>
        </p:txBody>
      </p:sp>
      <p:sp>
        <p:nvSpPr>
          <p:cNvPr id="17" name="Text 14"/>
          <p:cNvSpPr/>
          <p:nvPr/>
        </p:nvSpPr>
        <p:spPr>
          <a:xfrm>
            <a:off x="2653872" y="2298311"/>
            <a:ext cx="2230827" cy="2230827"/>
          </a:xfrm>
          <a:prstGeom prst="ellipse">
            <a:avLst/>
          </a:prstGeom>
          <a:gradFill>
            <a:gsLst>
              <a:gs pos="0">
                <a:srgbClr val="EDF0FE">
                  <a:alpha val="0"/>
                </a:srgbClr>
              </a:gs>
              <a:gs pos="100000">
                <a:srgbClr val="000DFF">
                  <a:alpha val="0"/>
                </a:srgbClr>
              </a:gs>
            </a:gsLst>
            <a:lin ang="0"/>
          </a:gradFill>
          <a:ln/>
        </p:spPr>
        <p:txBody>
          <a:bodyPr wrap="square" lIns="123935" tIns="263362" rIns="123935" bIns="263362" rtlCol="0" anchor="ctr"/>
          <a:lstStyle/>
          <a:p>
            <a:pPr algn="ctr">
              <a:lnSpc>
                <a:spcPts val="3240"/>
              </a:lnSpc>
            </a:pPr>
            <a:endParaRPr lang="en-US" sz="3600" dirty="0"/>
          </a:p>
        </p:txBody>
      </p:sp>
      <p:sp>
        <p:nvSpPr>
          <p:cNvPr id="18" name="Shape 15"/>
          <p:cNvSpPr/>
          <p:nvPr/>
        </p:nvSpPr>
        <p:spPr>
          <a:xfrm>
            <a:off x="2890904" y="3365329"/>
            <a:ext cx="1756763" cy="287291"/>
          </a:xfrm>
          <a:prstGeom prst="roundRect">
            <a:avLst>
              <a:gd name="adj" fmla="val -318284"/>
            </a:avLst>
          </a:prstGeom>
          <a:solidFill>
            <a:srgbClr val="FFFFFF">
              <a:alpha val="0"/>
            </a:srgbClr>
          </a:solidFill>
          <a:ln/>
        </p:spPr>
      </p:sp>
      <p:sp>
        <p:nvSpPr>
          <p:cNvPr id="19" name="Text 16"/>
          <p:cNvSpPr/>
          <p:nvPr/>
        </p:nvSpPr>
        <p:spPr>
          <a:xfrm>
            <a:off x="2923566" y="3304369"/>
            <a:ext cx="1688157" cy="198090"/>
          </a:xfrm>
          <a:prstGeom prst="rect">
            <a:avLst/>
          </a:prstGeom>
          <a:noFill/>
          <a:ln/>
        </p:spPr>
        <p:txBody>
          <a:bodyPr wrap="square" lIns="0" tIns="0" rIns="0" bIns="0" rtlCol="0" anchor="t"/>
          <a:lstStyle/>
          <a:p>
            <a:pPr algn="ctr">
              <a:lnSpc>
                <a:spcPts val="1560"/>
              </a:lnSpc>
            </a:pPr>
            <a:r>
              <a:rPr lang="en-US" sz="1200" b="1" dirty="0">
                <a:solidFill>
                  <a:srgbClr val="0E1745"/>
                </a:solidFill>
                <a:latin typeface="Figtree" pitchFamily="34" charset="0"/>
                <a:ea typeface="Figtree" pitchFamily="34" charset="-122"/>
                <a:cs typeface="Figtree" pitchFamily="34" charset="-120"/>
              </a:rPr>
              <a:t>Design Smart</a:t>
            </a:r>
            <a:endParaRPr lang="en-US" sz="1200" dirty="0"/>
          </a:p>
        </p:txBody>
      </p:sp>
      <p:sp>
        <p:nvSpPr>
          <p:cNvPr id="20" name="Shape 17"/>
          <p:cNvSpPr/>
          <p:nvPr/>
        </p:nvSpPr>
        <p:spPr>
          <a:xfrm>
            <a:off x="521493" y="3211561"/>
            <a:ext cx="1895346" cy="594826"/>
          </a:xfrm>
          <a:prstGeom prst="roundRect">
            <a:avLst>
              <a:gd name="adj" fmla="val -153726"/>
            </a:avLst>
          </a:prstGeom>
          <a:solidFill>
            <a:srgbClr val="FFFFFF">
              <a:alpha val="0"/>
            </a:srgbClr>
          </a:solidFill>
          <a:ln/>
        </p:spPr>
      </p:sp>
      <p:sp>
        <p:nvSpPr>
          <p:cNvPr id="21" name="Text 18"/>
          <p:cNvSpPr/>
          <p:nvPr/>
        </p:nvSpPr>
        <p:spPr>
          <a:xfrm>
            <a:off x="590085" y="3245851"/>
            <a:ext cx="1826754" cy="445703"/>
          </a:xfrm>
          <a:prstGeom prst="rect">
            <a:avLst/>
          </a:prstGeom>
          <a:noFill/>
          <a:ln/>
        </p:spPr>
        <p:txBody>
          <a:bodyPr wrap="square" lIns="0" tIns="0" rIns="0" bIns="0" rtlCol="0" anchor="t"/>
          <a:lstStyle/>
          <a:p>
            <a:pPr algn="r">
              <a:lnSpc>
                <a:spcPts val="1170"/>
              </a:lnSpc>
              <a:spcAft>
                <a:spcPts val="1800"/>
              </a:spcAft>
            </a:pPr>
            <a:r>
              <a:rPr lang="en-US" sz="900" b="0" dirty="0">
                <a:solidFill>
                  <a:srgbClr val="0D0D0D"/>
                </a:solidFill>
                <a:latin typeface="Fira Sans" pitchFamily="34" charset="0"/>
                <a:ea typeface="Fira Sans" pitchFamily="34" charset="-122"/>
                <a:cs typeface="Fira Sans" pitchFamily="34" charset="-120"/>
              </a:rPr>
              <a:t>Lorem ipsum dolor sit amet, adipiscing elit porttitor congue massa posuere, magna sed.</a:t>
            </a:r>
            <a:endParaRPr lang="en-US" sz="900" dirty="0"/>
          </a:p>
        </p:txBody>
      </p:sp>
      <p:sp>
        <p:nvSpPr>
          <p:cNvPr id="22" name="Text 19"/>
          <p:cNvSpPr/>
          <p:nvPr/>
        </p:nvSpPr>
        <p:spPr>
          <a:xfrm>
            <a:off x="709845" y="227814"/>
            <a:ext cx="657374" cy="85725"/>
          </a:xfrm>
          <a:prstGeom prst="rect">
            <a:avLst/>
          </a:prstGeom>
          <a:noFill/>
          <a:ln/>
        </p:spPr>
        <p:txBody>
          <a:bodyPr wrap="square" lIns="0" tIns="0" rIns="0" bIns="0" rtlCol="0" anchor="ctr"/>
          <a:lstStyle/>
          <a:p>
            <a:pPr algn="l">
              <a:lnSpc>
                <a:spcPts val="675"/>
              </a:lnSpc>
            </a:pPr>
            <a:r>
              <a:rPr lang="en-US" sz="700" b="0" dirty="0">
                <a:solidFill>
                  <a:srgbClr val="262626"/>
                </a:solidFill>
                <a:latin typeface="Carlito" pitchFamily="34" charset="0"/>
                <a:ea typeface="Carlito" pitchFamily="34" charset="-122"/>
                <a:cs typeface="Carlito" pitchFamily="34" charset="-120"/>
              </a:rPr>
              <a:t>Shift Porter Novelli</a:t>
            </a:r>
            <a:endParaRPr lang="en-US" sz="675" dirty="0"/>
          </a:p>
        </p:txBody>
      </p:sp>
      <p:sp>
        <p:nvSpPr>
          <p:cNvPr id="23" name="Text 20"/>
          <p:cNvSpPr/>
          <p:nvPr/>
        </p:nvSpPr>
        <p:spPr>
          <a:xfrm>
            <a:off x="7301247" y="239791"/>
            <a:ext cx="1481435" cy="85725"/>
          </a:xfrm>
          <a:prstGeom prst="rect">
            <a:avLst/>
          </a:prstGeom>
          <a:noFill/>
          <a:ln/>
        </p:spPr>
        <p:txBody>
          <a:bodyPr wrap="square" lIns="0" tIns="0" rIns="0" bIns="0" rtlCol="0" anchor="ctr"/>
          <a:lstStyle/>
          <a:p>
            <a:pPr algn="r">
              <a:lnSpc>
                <a:spcPts val="675"/>
              </a:lnSpc>
            </a:pPr>
            <a:r>
              <a:rPr lang="en-US" sz="700" b="0" dirty="0">
                <a:solidFill>
                  <a:srgbClr val="262626"/>
                </a:solidFill>
                <a:latin typeface="Carlito" pitchFamily="34" charset="0"/>
                <a:ea typeface="Carlito" pitchFamily="34" charset="-122"/>
                <a:cs typeface="Carlito" pitchFamily="34" charset="-120"/>
              </a:rPr>
              <a:t>Pitch 2026</a:t>
            </a:r>
            <a:endParaRPr lang="en-US" sz="675" dirty="0"/>
          </a:p>
        </p:txBody>
      </p:sp>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0FE"/>
        </a:solidFill>
      </p:bgPr>
    </p:bg>
    <p:spTree>
      <p:nvGrpSpPr>
        <p:cNvPr id="1" name=""/>
        <p:cNvGrpSpPr/>
        <p:nvPr/>
      </p:nvGrpSpPr>
      <p:grpSpPr>
        <a:xfrm>
          <a:off x="0" y="0"/>
          <a:ext cx="0" cy="0"/>
          <a:chOff x="0" y="0"/>
          <a:chExt cx="0" cy="0"/>
        </a:xfrm>
      </p:grpSpPr>
      <p:pic>
        <p:nvPicPr>
          <p:cNvPr id="3" name="Image 0" descr="https://pitch-assets-ccb95893-de3f-4266-973c-20049231b248.s3.eu-west-1.amazonaws.com/02d9f661-2793-4804-a31a-85b7766d3c4b?pitch-bytes=1230&amp;pitch-content-type=image%2Fsvg%2Bxml">    </p:cNvPr>
          <p:cNvPicPr>
            <a:picLocks noChangeAspect="1"/>
          </p:cNvPicPr>
          <p:nvPr/>
        </p:nvPicPr>
        <p:blipFill>
          <a:blip r:embed="rId1">
            <a:alphaModFix amt="5000"/>
            <a:extLst>
              <a:ext uri="{96DAC541-7B7A-43D3-8B79-37D633B846F1}">
                <asvg:svgBlip xmlns:asvg="http://schemas.microsoft.com/office/drawing/2016/SVG/main" r:embed="rId2"/>
              </a:ext>
            </a:extLst>
          </a:blip>
          <a:srcRect l="0" r="0" t="0" b="0"/>
          <a:stretch/>
        </p:blipFill>
        <p:spPr>
          <a:xfrm>
            <a:off x="1183357" y="-239284"/>
            <a:ext cx="7089253" cy="5620636"/>
          </a:xfrm>
          <a:prstGeom prst="rect">
            <a:avLst/>
          </a:prstGeom>
        </p:spPr>
      </p:pic>
      <p:pic>
        <p:nvPicPr>
          <p:cNvPr id="4" name="Image 1" descr="preencoded.png">    </p:cNvPr>
          <p:cNvPicPr>
            <a:picLocks noChangeAspect="1"/>
          </p:cNvPicPr>
          <p:nvPr/>
        </p:nvPicPr>
        <p:blipFill>
          <a:blip r:embed="rId3">
            <a:alphaModFix amt="64000"/>
            <a:blur rad="300"/>
            <a:extLst>
              <a:ext uri="{96DAC541-7B7A-43D3-8B79-37D633B846F1}">
                <asvg:svgBlip xmlns:asvg="http://schemas.microsoft.com/office/drawing/2016/SVG/main" r:embed="rId4"/>
              </a:ext>
            </a:extLst>
          </a:blip>
          <a:srcRect l="0" r="0" t="0" b="0"/>
          <a:stretch/>
        </p:blipFill>
        <p:spPr>
          <a:xfrm>
            <a:off x="7503841" y="-535067"/>
            <a:ext cx="10401300" cy="5891784"/>
          </a:xfrm>
          <a:prstGeom prst="rect">
            <a:avLst/>
          </a:prstGeom>
          <a:effectLst>
            <a:blur rad="381000" grow="1"/>
          </a:effectLst>
        </p:spPr>
      </p:pic>
      <p:pic>
        <p:nvPicPr>
          <p:cNvPr id="5" name="Image 2" descr="preencoded.png">    </p:cNvPr>
          <p:cNvPicPr>
            <a:picLocks noChangeAspect="1"/>
          </p:cNvPicPr>
          <p:nvPr/>
        </p:nvPicPr>
        <p:blipFill>
          <a:blip r:embed="rId5">
            <a:alphaModFix amt="64000"/>
            <a:blur rad="300"/>
            <a:extLst>
              <a:ext uri="{96DAC541-7B7A-43D3-8B79-37D633B846F1}">
                <asvg:svgBlip xmlns:asvg="http://schemas.microsoft.com/office/drawing/2016/SVG/main" r:embed="rId6"/>
              </a:ext>
            </a:extLst>
          </a:blip>
          <a:srcRect l="0" r="0" t="0" b="0"/>
          <a:stretch/>
        </p:blipFill>
        <p:spPr>
          <a:xfrm>
            <a:off x="-7060385" y="-585560"/>
            <a:ext cx="10401300" cy="5891784"/>
          </a:xfrm>
          <a:prstGeom prst="rect">
            <a:avLst/>
          </a:prstGeom>
          <a:effectLst>
            <a:blur rad="381000" grow="1"/>
          </a:effectLst>
        </p:spPr>
      </p:pic>
      <p:sp>
        <p:nvSpPr>
          <p:cNvPr id="6" name="Text 0"/>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7" name="Text 1"/>
          <p:cNvSpPr/>
          <p:nvPr/>
        </p:nvSpPr>
        <p:spPr>
          <a:xfrm>
            <a:off x="8222009" y="225504"/>
            <a:ext cx="400496" cy="114300"/>
          </a:xfrm>
          <a:prstGeom prst="rect">
            <a:avLst/>
          </a:prstGeom>
          <a:noFill/>
          <a:ln/>
        </p:spPr>
        <p:txBody>
          <a:bodyPr wrap="square" lIns="0" tIns="0" rIns="0" bIns="0" rtlCol="0" anchor="ctr"/>
          <a:lstStyle/>
          <a:p>
            <a:pPr algn="r">
              <a:lnSpc>
                <a:spcPts val="900"/>
              </a:lnSpc>
            </a:pPr>
            <a:endParaRPr lang="en-US" sz="900" dirty="0"/>
          </a:p>
        </p:txBody>
      </p:sp>
      <p:sp>
        <p:nvSpPr>
          <p:cNvPr id="8" name="Shape 2"/>
          <p:cNvSpPr/>
          <p:nvPr/>
        </p:nvSpPr>
        <p:spPr>
          <a:xfrm>
            <a:off x="521494" y="988407"/>
            <a:ext cx="8101013" cy="2312941"/>
          </a:xfrm>
          <a:prstGeom prst="roundRect">
            <a:avLst>
              <a:gd name="adj" fmla="val -39534"/>
            </a:avLst>
          </a:prstGeom>
          <a:solidFill>
            <a:srgbClr val="FFFFFF">
              <a:alpha val="0"/>
            </a:srgbClr>
          </a:solidFill>
          <a:ln/>
        </p:spPr>
      </p:sp>
      <p:sp>
        <p:nvSpPr>
          <p:cNvPr id="9" name="Text 3"/>
          <p:cNvSpPr/>
          <p:nvPr/>
        </p:nvSpPr>
        <p:spPr>
          <a:xfrm>
            <a:off x="590107" y="986766"/>
            <a:ext cx="8032366" cy="1388678"/>
          </a:xfrm>
          <a:prstGeom prst="rect">
            <a:avLst/>
          </a:prstGeom>
          <a:noFill/>
          <a:ln/>
        </p:spPr>
        <p:txBody>
          <a:bodyPr wrap="square" lIns="0" tIns="0" rIns="0" bIns="0" rtlCol="0" anchor="t"/>
          <a:lstStyle/>
          <a:p>
            <a:pPr algn="ctr">
              <a:lnSpc>
                <a:spcPts val="3645"/>
              </a:lnSpc>
            </a:pPr>
            <a:r>
              <a:rPr lang="en-US" sz="4100" b="0" dirty="0">
                <a:solidFill>
                  <a:srgbClr val="F540FF"/>
                </a:solidFill>
                <a:latin typeface="Figtree" pitchFamily="34" charset="0"/>
                <a:ea typeface="Figtree" pitchFamily="34" charset="-122"/>
                <a:cs typeface="Figtree" pitchFamily="34" charset="-120"/>
              </a:rPr>
              <a:t>Shift </a:t>
            </a:r>
            <a:pPr algn="ctr">
              <a:lnSpc>
                <a:spcPts val="3645"/>
              </a:lnSpc>
            </a:pPr>
            <a:r>
              <a:rPr lang="en-US" sz="4100" b="0" dirty="0">
                <a:solidFill>
                  <a:srgbClr val="0D0D0D"/>
                </a:solidFill>
                <a:latin typeface="Figtree" pitchFamily="34" charset="0"/>
                <a:ea typeface="Figtree" pitchFamily="34" charset="-122"/>
                <a:cs typeface="Figtree" pitchFamily="34" charset="-120"/>
              </a:rPr>
              <a:t>Platform, Visualized to Reflect the Future We’re </a:t>
            </a:r>
            <a:pPr algn="ctr">
              <a:lnSpc>
                <a:spcPts val="3645"/>
              </a:lnSpc>
            </a:pPr>
            <a:r>
              <a:rPr lang="en-US" sz="4100" b="0" dirty="0">
                <a:solidFill>
                  <a:srgbClr val="F540FF"/>
                </a:solidFill>
                <a:latin typeface="Figtree" pitchFamily="34" charset="0"/>
                <a:ea typeface="Figtree" pitchFamily="34" charset="-122"/>
                <a:cs typeface="Figtree" pitchFamily="34" charset="-120"/>
              </a:rPr>
              <a:t>Creating,</a:t>
            </a:r>
            <a:pPr algn="ctr">
              <a:lnSpc>
                <a:spcPts val="3645"/>
              </a:lnSpc>
            </a:pPr>
            <a:r>
              <a:rPr lang="en-US" sz="4100" b="0" dirty="0">
                <a:solidFill>
                  <a:srgbClr val="0D0D0D"/>
                </a:solidFill>
                <a:latin typeface="Figtree" pitchFamily="34" charset="0"/>
                <a:ea typeface="Figtree" pitchFamily="34" charset="-122"/>
                <a:cs typeface="Figtree" pitchFamily="34" charset="-120"/>
              </a:rPr>
              <a:t> One Click at a Time</a:t>
            </a:r>
            <a:endParaRPr lang="en-US" sz="4050" dirty="0"/>
          </a:p>
        </p:txBody>
      </p:sp>
      <p:sp>
        <p:nvSpPr>
          <p:cNvPr id="10" name="Shape 4"/>
          <p:cNvSpPr/>
          <p:nvPr/>
        </p:nvSpPr>
        <p:spPr>
          <a:xfrm>
            <a:off x="5737957" y="3740315"/>
            <a:ext cx="2471230" cy="414778"/>
          </a:xfrm>
          <a:prstGeom prst="roundRect">
            <a:avLst>
              <a:gd name="adj" fmla="val -220455"/>
            </a:avLst>
          </a:prstGeom>
          <a:solidFill>
            <a:srgbClr val="FFFFFF">
              <a:alpha val="0"/>
            </a:srgbClr>
          </a:solidFill>
          <a:ln/>
        </p:spPr>
      </p:sp>
      <p:sp>
        <p:nvSpPr>
          <p:cNvPr id="11" name="Text 5"/>
          <p:cNvSpPr/>
          <p:nvPr/>
        </p:nvSpPr>
        <p:spPr>
          <a:xfrm>
            <a:off x="5806537" y="3774605"/>
            <a:ext cx="2402644" cy="297135"/>
          </a:xfrm>
          <a:prstGeom prst="rect">
            <a:avLst/>
          </a:prstGeom>
          <a:noFill/>
          <a:ln/>
        </p:spPr>
        <p:txBody>
          <a:bodyPr wrap="square" lIns="0" tIns="0" rIns="0" bIns="0" rtlCol="0" anchor="t"/>
          <a:lstStyle/>
          <a:p>
            <a:pPr algn="l">
              <a:lnSpc>
                <a:spcPts val="1170"/>
              </a:lnSpc>
              <a:spcAft>
                <a:spcPts val="1800"/>
              </a:spcAft>
            </a:pPr>
            <a:r>
              <a:rPr lang="en-US" sz="900" b="0" dirty="0">
                <a:solidFill>
                  <a:srgbClr val="0D0D0D"/>
                </a:solidFill>
                <a:latin typeface="Fira Sans" pitchFamily="34" charset="0"/>
                <a:ea typeface="Fira Sans" pitchFamily="34" charset="-122"/>
                <a:cs typeface="Fira Sans" pitchFamily="34" charset="-120"/>
              </a:rPr>
              <a:t>Lorem ipsum dolor sit amet, consectetuer adipiscing elit porttitor congue massa. </a:t>
            </a:r>
            <a:endParaRPr lang="en-US" sz="900" dirty="0"/>
          </a:p>
        </p:txBody>
      </p:sp>
      <p:pic>
        <p:nvPicPr>
          <p:cNvPr id="12" name="Image 3" descr="https://pitch-assets-ccb95893-de3f-4266-973c-20049231b248.s3.eu-west-1.amazonaws.com/c240e076-25b8-4568-b16a-f72e57ffca10?pitch-bytes=114247&amp;pitch-content-type=image%2Fpng">    </p:cNvPr>
          <p:cNvPicPr>
            <a:picLocks noChangeAspect="1"/>
          </p:cNvPicPr>
          <p:nvPr/>
        </p:nvPicPr>
        <p:blipFill>
          <a:blip r:embed="rId7"/>
          <a:srcRect l="0" r="0" t="0" b="0"/>
          <a:stretch/>
        </p:blipFill>
        <p:spPr>
          <a:xfrm>
            <a:off x="3417658" y="519113"/>
            <a:ext cx="2308685" cy="4105275"/>
          </a:xfrm>
          <a:prstGeom prst="rect">
            <a:avLst/>
          </a:prstGeom>
        </p:spPr>
      </p:pic>
      <p:sp>
        <p:nvSpPr>
          <p:cNvPr id="13" name="Shape 6"/>
          <p:cNvSpPr/>
          <p:nvPr/>
        </p:nvSpPr>
        <p:spPr>
          <a:xfrm>
            <a:off x="934813" y="3737926"/>
            <a:ext cx="2471231" cy="414778"/>
          </a:xfrm>
          <a:prstGeom prst="roundRect">
            <a:avLst>
              <a:gd name="adj" fmla="val -220455"/>
            </a:avLst>
          </a:prstGeom>
          <a:solidFill>
            <a:srgbClr val="FFFFFF">
              <a:alpha val="0"/>
            </a:srgbClr>
          </a:solidFill>
          <a:ln/>
        </p:spPr>
      </p:sp>
      <p:sp>
        <p:nvSpPr>
          <p:cNvPr id="14" name="Text 7"/>
          <p:cNvSpPr/>
          <p:nvPr/>
        </p:nvSpPr>
        <p:spPr>
          <a:xfrm>
            <a:off x="1003399" y="3772216"/>
            <a:ext cx="2402644" cy="297135"/>
          </a:xfrm>
          <a:prstGeom prst="rect">
            <a:avLst/>
          </a:prstGeom>
          <a:noFill/>
          <a:ln/>
        </p:spPr>
        <p:txBody>
          <a:bodyPr wrap="square" lIns="0" tIns="0" rIns="0" bIns="0" rtlCol="0" anchor="t"/>
          <a:lstStyle/>
          <a:p>
            <a:pPr algn="r">
              <a:lnSpc>
                <a:spcPts val="1170"/>
              </a:lnSpc>
              <a:spcAft>
                <a:spcPts val="1800"/>
              </a:spcAft>
            </a:pPr>
            <a:r>
              <a:rPr lang="en-US" sz="900" b="0" dirty="0">
                <a:solidFill>
                  <a:srgbClr val="0D0D0D"/>
                </a:solidFill>
                <a:latin typeface="Fira Sans" pitchFamily="34" charset="0"/>
                <a:ea typeface="Fira Sans" pitchFamily="34" charset="-122"/>
                <a:cs typeface="Fira Sans" pitchFamily="34" charset="-120"/>
              </a:rPr>
              <a:t>Lorem ipsum dolor sit amet, consectetuer adipiscing elit porttitor congue massa. </a:t>
            </a:r>
            <a:endParaRPr lang="en-US" sz="900" dirty="0"/>
          </a:p>
        </p:txBody>
      </p:sp>
      <p:pic>
        <p:nvPicPr>
          <p:cNvPr id="15" name="Image 4" descr="https://pitch-assets-ccb95893-de3f-4266-973c-20049231b248.s3.eu-west-1.amazonaws.com/9e03999c-47de-4fe5-83b9-cd6fc49dd55f?pitch-bytes=721&amp;pitch-content-type=image%2Fsvg%2Bxml">    </p:cNvPr>
          <p:cNvPicPr>
            <a:picLocks noChangeAspect="1"/>
          </p:cNvPicPr>
          <p:nvPr/>
        </p:nvPicPr>
        <p:blipFill>
          <a:blip r:embed="rId8">
            <a:extLst>
              <a:ext uri="{96DAC541-7B7A-43D3-8B79-37D633B846F1}">
                <asvg:svgBlip xmlns:asvg="http://schemas.microsoft.com/office/drawing/2016/SVG/main" r:embed="rId9"/>
              </a:ext>
            </a:extLst>
          </a:blip>
          <a:srcRect l="0" r="0" t="0" b="0"/>
          <a:stretch/>
        </p:blipFill>
        <p:spPr>
          <a:xfrm>
            <a:off x="4469844" y="3704986"/>
            <a:ext cx="268573" cy="362574"/>
          </a:xfrm>
          <a:prstGeom prst="rect">
            <a:avLst/>
          </a:prstGeom>
        </p:spPr>
      </p:pic>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0FE"/>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alphaModFix amt="89000"/>
            <a:blur rad="300"/>
            <a:extLst>
              <a:ext uri="{96DAC541-7B7A-43D3-8B79-37D633B846F1}">
                <asvg:svgBlip xmlns:asvg="http://schemas.microsoft.com/office/drawing/2016/SVG/main" r:embed="rId2"/>
              </a:ext>
            </a:extLst>
          </a:blip>
          <a:srcRect l="0" r="0" t="15" b="15"/>
          <a:stretch/>
        </p:blipFill>
        <p:spPr>
          <a:xfrm>
            <a:off x="-998676" y="1576317"/>
            <a:ext cx="11141353" cy="6310985"/>
          </a:xfrm>
          <a:prstGeom prst="rect">
            <a:avLst/>
          </a:prstGeom>
          <a:effectLst>
            <a:blur rad="381000" grow="1"/>
          </a:effectLst>
        </p:spPr>
      </p:pic>
      <p:pic>
        <p:nvPicPr>
          <p:cNvPr id="4" name="Image 1" descr="preencoded.png">    </p:cNvPr>
          <p:cNvPicPr>
            <a:picLocks noChangeAspect="1"/>
          </p:cNvPicPr>
          <p:nvPr/>
        </p:nvPicPr>
        <p:blipFill>
          <a:blip r:embed="rId3">
            <a:alphaModFix amt="85000"/>
            <a:blur rad="300"/>
            <a:extLst>
              <a:ext uri="{96DAC541-7B7A-43D3-8B79-37D633B846F1}">
                <asvg:svgBlip xmlns:asvg="http://schemas.microsoft.com/office/drawing/2016/SVG/main" r:embed="rId4"/>
              </a:ext>
            </a:extLst>
          </a:blip>
          <a:srcRect l="0" r="0" t="0" b="0"/>
          <a:stretch/>
        </p:blipFill>
        <p:spPr>
          <a:xfrm>
            <a:off x="-628650" y="2024893"/>
            <a:ext cx="10401300" cy="5891784"/>
          </a:xfrm>
          <a:prstGeom prst="rect">
            <a:avLst/>
          </a:prstGeom>
          <a:effectLst>
            <a:blur rad="381000" grow="1"/>
          </a:effectLst>
        </p:spPr>
      </p:pic>
      <p:sp>
        <p:nvSpPr>
          <p:cNvPr id="5" name="Text 0"/>
          <p:cNvSpPr/>
          <p:nvPr/>
        </p:nvSpPr>
        <p:spPr>
          <a:xfrm>
            <a:off x="461283" y="568774"/>
            <a:ext cx="8519331" cy="1428750"/>
          </a:xfrm>
          <a:prstGeom prst="rect">
            <a:avLst/>
          </a:prstGeom>
          <a:noFill/>
          <a:ln/>
        </p:spPr>
        <p:txBody>
          <a:bodyPr wrap="square" lIns="0" tIns="0" rIns="0" bIns="0" rtlCol="0" anchor="t"/>
          <a:lstStyle/>
          <a:p>
            <a:pPr algn="ctr">
              <a:lnSpc>
                <a:spcPts val="11250"/>
              </a:lnSpc>
            </a:pPr>
            <a:r>
              <a:rPr lang="en-US" sz="11300" b="1" dirty="0">
                <a:solidFill>
                  <a:srgbClr val="0E1745"/>
                </a:solidFill>
                <a:latin typeface="Glitz" pitchFamily="34" charset="0"/>
                <a:ea typeface="Glitz" pitchFamily="34" charset="-122"/>
                <a:cs typeface="Glitz" pitchFamily="34" charset="-120"/>
              </a:rPr>
              <a:t>GRACIAS</a:t>
            </a:r>
            <a:endParaRPr lang="en-US" sz="11250" dirty="0"/>
          </a:p>
        </p:txBody>
      </p:sp>
      <p:pic>
        <p:nvPicPr>
          <p:cNvPr id="6" name="Image 2" descr="https://pitch-assets-ccb95893-de3f-4266-973c-20049231b248.s3.eu-west-1.amazonaws.com/02d9f661-2793-4804-a31a-85b7766d3c4b?pitch-bytes=1230&amp;pitch-content-type=image%2Fsvg%2Bxml">    </p:cNvPr>
          <p:cNvPicPr>
            <a:picLocks noChangeAspect="1"/>
          </p:cNvPicPr>
          <p:nvPr/>
        </p:nvPicPr>
        <p:blipFill>
          <a:blip r:embed="rId5">
            <a:alphaModFix amt="4000"/>
            <a:extLst>
              <a:ext uri="{96DAC541-7B7A-43D3-8B79-37D633B846F1}">
                <asvg:svgBlip xmlns:asvg="http://schemas.microsoft.com/office/drawing/2016/SVG/main" r:embed="rId6"/>
              </a:ext>
            </a:extLst>
          </a:blip>
          <a:srcRect l="0" r="0" t="0" b="0"/>
          <a:stretch/>
        </p:blipFill>
        <p:spPr>
          <a:xfrm>
            <a:off x="1183357" y="-239284"/>
            <a:ext cx="7089253" cy="5620636"/>
          </a:xfrm>
          <a:prstGeom prst="rect">
            <a:avLst/>
          </a:prstGeom>
        </p:spPr>
      </p:pic>
      <p:sp>
        <p:nvSpPr>
          <p:cNvPr id="7" name="Text 1"/>
          <p:cNvSpPr/>
          <p:nvPr/>
        </p:nvSpPr>
        <p:spPr>
          <a:xfrm>
            <a:off x="709845" y="224242"/>
            <a:ext cx="657374" cy="92869"/>
          </a:xfrm>
          <a:prstGeom prst="rect">
            <a:avLst/>
          </a:prstGeom>
          <a:noFill/>
          <a:ln/>
        </p:spPr>
        <p:txBody>
          <a:bodyPr wrap="square" lIns="0" tIns="0" rIns="0" bIns="0" rtlCol="0" anchor="ctr"/>
          <a:lstStyle/>
          <a:p>
            <a:pPr algn="l">
              <a:lnSpc>
                <a:spcPts val="675"/>
              </a:lnSpc>
            </a:pPr>
            <a:r>
              <a:rPr lang="en-US" sz="700" b="0" dirty="0">
                <a:solidFill>
                  <a:srgbClr val="262626"/>
                </a:solidFill>
                <a:latin typeface="Carlito" pitchFamily="34" charset="0"/>
                <a:ea typeface="Carlito" pitchFamily="34" charset="-122"/>
                <a:cs typeface="Carlito" pitchFamily="34" charset="-120"/>
              </a:rPr>
              <a:t>Shift Porter Novelli</a:t>
            </a:r>
            <a:endParaRPr lang="en-US" sz="675" dirty="0"/>
          </a:p>
        </p:txBody>
      </p:sp>
      <p:sp>
        <p:nvSpPr>
          <p:cNvPr id="8" name="Text 2"/>
          <p:cNvSpPr/>
          <p:nvPr/>
        </p:nvSpPr>
        <p:spPr>
          <a:xfrm>
            <a:off x="8222009" y="168354"/>
            <a:ext cx="400496" cy="228600"/>
          </a:xfrm>
          <a:prstGeom prst="rect">
            <a:avLst/>
          </a:prstGeom>
          <a:noFill/>
          <a:ln/>
        </p:spPr>
        <p:txBody>
          <a:bodyPr wrap="square" lIns="0" tIns="0" rIns="0" bIns="0" rtlCol="0" anchor="ctr"/>
          <a:lstStyle/>
          <a:p>
            <a:pPr algn="r">
              <a:lnSpc>
                <a:spcPts val="900"/>
              </a:lnSpc>
            </a:pPr>
            <a:endParaRPr lang="en-US" sz="900" dirty="0"/>
          </a:p>
        </p:txBody>
      </p:sp>
      <p:sp>
        <p:nvSpPr>
          <p:cNvPr id="9" name="Text 3"/>
          <p:cNvSpPr/>
          <p:nvPr/>
        </p:nvSpPr>
        <p:spPr>
          <a:xfrm>
            <a:off x="7301247" y="236219"/>
            <a:ext cx="1481435" cy="92869"/>
          </a:xfrm>
          <a:prstGeom prst="rect">
            <a:avLst/>
          </a:prstGeom>
          <a:noFill/>
          <a:ln/>
        </p:spPr>
        <p:txBody>
          <a:bodyPr wrap="square" lIns="0" tIns="0" rIns="0" bIns="0" rtlCol="0" anchor="ctr"/>
          <a:lstStyle/>
          <a:p>
            <a:pPr algn="r">
              <a:lnSpc>
                <a:spcPts val="675"/>
              </a:lnSpc>
            </a:pPr>
            <a:r>
              <a:rPr lang="en-US" sz="700" b="0" dirty="0">
                <a:solidFill>
                  <a:srgbClr val="262626"/>
                </a:solidFill>
                <a:latin typeface="Carlito" pitchFamily="34" charset="0"/>
                <a:ea typeface="Carlito" pitchFamily="34" charset="-122"/>
                <a:cs typeface="Carlito" pitchFamily="34" charset="-120"/>
              </a:rPr>
              <a:t>Pitch 2026</a:t>
            </a:r>
            <a:endParaRPr lang="en-US" sz="675" dirty="0"/>
          </a:p>
        </p:txBody>
      </p:sp>
      <p:sp>
        <p:nvSpPr>
          <p:cNvPr id="10" name="Text 4"/>
          <p:cNvSpPr/>
          <p:nvPr/>
        </p:nvSpPr>
        <p:spPr>
          <a:xfrm>
            <a:off x="3937829" y="4118933"/>
            <a:ext cx="1571327" cy="400050"/>
          </a:xfrm>
          <a:prstGeom prst="rect">
            <a:avLst/>
          </a:prstGeom>
          <a:noFill/>
          <a:ln/>
        </p:spPr>
        <p:txBody>
          <a:bodyPr wrap="square" lIns="0" tIns="0" rIns="0" bIns="0" rtlCol="0" anchor="t"/>
          <a:lstStyle/>
          <a:p>
            <a:pPr algn="ctr">
              <a:lnSpc>
                <a:spcPts val="1050"/>
              </a:lnSpc>
            </a:pPr>
            <a:r>
              <a:rPr lang="en-US" sz="1100" b="1" dirty="0">
                <a:solidFill>
                  <a:srgbClr val="FFFFFF"/>
                </a:solidFill>
                <a:latin typeface="Figtree" pitchFamily="34" charset="0"/>
                <a:ea typeface="Figtree" pitchFamily="34" charset="-122"/>
                <a:cs typeface="Figtree" pitchFamily="34" charset="-120"/>
              </a:rPr>
              <a:t>Hacemos </a:t>
            </a:r>
            <a:pPr algn="ctr">
              <a:lnSpc>
                <a:spcPts val="1050"/>
              </a:lnSpc>
            </a:pPr>
            <a:r>
              <a:rPr lang="en-US" sz="1100" b="1" dirty="0">
                <a:solidFill>
                  <a:srgbClr val="FFFFFF"/>
                </a:solidFill>
                <a:latin typeface="Figtree" pitchFamily="34" charset="0"/>
                <a:ea typeface="Figtree" pitchFamily="34" charset="-122"/>
                <a:cs typeface="Figtree" pitchFamily="34" charset="-120"/>
              </a:rPr>
              <a:t>eco</a:t>
            </a:r>
            <a:endParaRPr lang="en-US" sz="1050" dirty="0"/>
          </a:p>
          <a:p>
            <a:pPr algn="ctr">
              <a:lnSpc>
                <a:spcPts val="1050"/>
              </a:lnSpc>
            </a:pPr>
            <a:r>
              <a:rPr lang="en-US" sz="1100" b="1" dirty="0">
                <a:solidFill>
                  <a:srgbClr val="FFFFFF"/>
                </a:solidFill>
                <a:latin typeface="Figtree" pitchFamily="34" charset="0"/>
                <a:ea typeface="Figtree" pitchFamily="34" charset="-122"/>
                <a:cs typeface="Figtree" pitchFamily="34" charset="-120"/>
              </a:rPr>
              <a:t>Generamos </a:t>
            </a:r>
            <a:pPr algn="ctr">
              <a:lnSpc>
                <a:spcPts val="1050"/>
              </a:lnSpc>
            </a:pPr>
            <a:r>
              <a:rPr lang="en-US" sz="1100" b="1" dirty="0">
                <a:solidFill>
                  <a:srgbClr val="FFFFFF"/>
                </a:solidFill>
                <a:latin typeface="Figtree" pitchFamily="34" charset="0"/>
                <a:ea typeface="Figtree" pitchFamily="34" charset="-122"/>
                <a:cs typeface="Figtree" pitchFamily="34" charset="-120"/>
              </a:rPr>
              <a:t>resonancia</a:t>
            </a:r>
            <a:endParaRPr lang="en-US" sz="1050" dirty="0"/>
          </a:p>
          <a:p>
            <a:pPr algn="ctr">
              <a:lnSpc>
                <a:spcPts val="1050"/>
              </a:lnSpc>
            </a:pPr>
            <a:r>
              <a:rPr lang="en-US" sz="1100" b="1" dirty="0">
                <a:solidFill>
                  <a:srgbClr val="FFFFFF"/>
                </a:solidFill>
                <a:latin typeface="Figtree" pitchFamily="34" charset="0"/>
                <a:ea typeface="Figtree" pitchFamily="34" charset="-122"/>
                <a:cs typeface="Figtree" pitchFamily="34" charset="-120"/>
              </a:rPr>
              <a:t>Concretamos </a:t>
            </a:r>
            <a:pPr algn="ctr">
              <a:lnSpc>
                <a:spcPts val="1050"/>
              </a:lnSpc>
            </a:pPr>
            <a:r>
              <a:rPr lang="en-US" sz="1100" b="1" dirty="0">
                <a:solidFill>
                  <a:srgbClr val="FFFFFF"/>
                </a:solidFill>
                <a:latin typeface="Figtree" pitchFamily="34" charset="0"/>
                <a:ea typeface="Figtree" pitchFamily="34" charset="-122"/>
                <a:cs typeface="Figtree" pitchFamily="34" charset="-120"/>
              </a:rPr>
              <a:t>ideas</a:t>
            </a:r>
            <a:endParaRPr lang="en-US" sz="1050" dirty="0"/>
          </a:p>
        </p:txBody>
      </p:sp>
      <p:pic>
        <p:nvPicPr>
          <p:cNvPr id="11" name="Image 3" descr="https://pitch-assets-ccb95893-de3f-4266-973c-20049231b248.s3.eu-west-1.amazonaws.com/9e03999c-47de-4fe5-83b9-cd6fc49dd55f?pitch-bytes=721&amp;pitch-content-type=image%2Fsvg%2Bxml">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4589616" y="3543294"/>
            <a:ext cx="268573" cy="362574"/>
          </a:xfrm>
          <a:prstGeom prst="rect">
            <a:avLst/>
          </a:prstGeom>
        </p:spPr>
      </p:pic>
      <p:sp>
        <p:nvSpPr>
          <p:cNvPr id="25" name="Slide Number Placeholder 0"/>
          <p:cNvSpPr>
            <a:spLocks noGrp="1"/>
          </p:cNvSpPr>
          <p:nvPr>
            <p:ph type="sldNum" sz="quarter" idx="4294967295"/>
          </p:nvPr>
        </p:nvSpPr>
        <p:spPr>
          <a:xfrm>
            <a:off x="8778240" y="4754880"/>
            <a:ext cx="800000" cy="300000"/>
          </a:xfrm>
          <a:prstGeom prst="rect">
            <a:avLst/>
          </a:prstGeom>
          <a:extLst>
            <a:ext uri="{C572A759-6A51-4108-AA02-DFA0A04FC94B}">
              <ma14:wrappingTextBoxFlag xmlns:ma14="http://schemas.microsoft.com/office/mac/drawingml/2011/main" val="0"/>
            </a:ext>
          </a:extLst>
        </p:spPr>
        <p:txBody>
          <a:bodyPr/>
          <a:lstStyle>
            <a:lvl1pPr>
              <a:defRPr sz="1300">
                <a:solidFill>
                  <a:srgbClr val="00000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PptxGenJS Presentation</dc:subject>
  <dc:creator>Pitch Software GmbH</dc:creator>
  <cp:lastModifiedBy>Pitch Software GmbH</cp:lastModifiedBy>
  <cp:revision>1</cp:revision>
  <dcterms:created xsi:type="dcterms:W3CDTF">2026-02-02T17:09:15Z</dcterms:created>
  <dcterms:modified xsi:type="dcterms:W3CDTF">2026-02-02T17:09:15Z</dcterms:modified>
</cp:coreProperties>
</file>